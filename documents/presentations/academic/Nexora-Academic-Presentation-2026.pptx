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626240d3c4420c" /><Relationship Type="http://schemas.openxmlformats.org/officeDocument/2006/relationships/extended-properties" Target="/docProps/app.xml" Id="Rc268cfbaffd5410d" /><Relationship Type="http://schemas.openxmlformats.org/officeDocument/2006/relationships/officeDocument" Target="/ppt/presentation.xml" Id="R0d2e2e1844734378" /></Relationships>
</file>

<file path=ppt/presentation.xml><?xml version="1.0" encoding="utf-8"?>
<p:presentation xmlns:p="http://schemas.openxmlformats.org/presentationml/2006/main">
  <p:sldMasterIdLst>
    <p:sldMasterId xmlns:r="http://schemas.openxmlformats.org/officeDocument/2006/relationships" id="2147483648" r:id="R0d90ce8d1c0340a1"/>
  </p:sldMasterIdLst>
  <p:notesMasterIdLst>
    <p:notesMasterId xmlns:r="http://schemas.openxmlformats.org/officeDocument/2006/relationships" r:id="R15ace248a6084d8c"/>
  </p:notesMasterIdLst>
  <p:sldIdLst>
    <p:sldId xmlns:r="http://schemas.openxmlformats.org/officeDocument/2006/relationships" id="256" r:id="R45832835b13141db"/>
    <p:sldId xmlns:r="http://schemas.openxmlformats.org/officeDocument/2006/relationships" id="257" r:id="R989b5e0d49774cad"/>
    <p:sldId xmlns:r="http://schemas.openxmlformats.org/officeDocument/2006/relationships" id="258" r:id="Rb5706a24ad814526"/>
    <p:sldId xmlns:r="http://schemas.openxmlformats.org/officeDocument/2006/relationships" id="259" r:id="R6eb9fa568d0f4326"/>
    <p:sldId xmlns:r="http://schemas.openxmlformats.org/officeDocument/2006/relationships" id="260" r:id="R62909de1fb2a4374"/>
    <p:sldId xmlns:r="http://schemas.openxmlformats.org/officeDocument/2006/relationships" id="261" r:id="R34da87e56acf41bc"/>
    <p:sldId xmlns:r="http://schemas.openxmlformats.org/officeDocument/2006/relationships" id="262" r:id="R84a60ae627d140e4"/>
    <p:sldId xmlns:r="http://schemas.openxmlformats.org/officeDocument/2006/relationships" id="263" r:id="R4f113dc163c848a7"/>
    <p:sldId xmlns:r="http://schemas.openxmlformats.org/officeDocument/2006/relationships" id="264" r:id="Rc0b6dd1eb1144542"/>
    <p:sldId xmlns:r="http://schemas.openxmlformats.org/officeDocument/2006/relationships" id="265" r:id="Re30eff6f350a46fe"/>
    <p:sldId xmlns:r="http://schemas.openxmlformats.org/officeDocument/2006/relationships" id="266" r:id="Rdfc347bc319449f6"/>
    <p:sldId xmlns:r="http://schemas.openxmlformats.org/officeDocument/2006/relationships" id="267" r:id="R2b88f9c529af42ba"/>
    <p:sldId xmlns:r="http://schemas.openxmlformats.org/officeDocument/2006/relationships" id="268" r:id="R670611da27524eca"/>
    <p:sldId xmlns:r="http://schemas.openxmlformats.org/officeDocument/2006/relationships" id="269" r:id="Rbb72c60a95c243a0"/>
    <p:sldId xmlns:r="http://schemas.openxmlformats.org/officeDocument/2006/relationships" id="270" r:id="R8f74cd66980c455b"/>
    <p:sldId xmlns:r="http://schemas.openxmlformats.org/officeDocument/2006/relationships" id="271" r:id="R62d2f2880f8e4159"/>
    <p:sldId xmlns:r="http://schemas.openxmlformats.org/officeDocument/2006/relationships" id="272" r:id="R98aae07150b44c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a06c00a1f94624" /><Relationship Type="http://schemas.openxmlformats.org/officeDocument/2006/relationships/slideMaster" Target="/ppt/slideMasters/slideMaster1.xml" Id="R0d90ce8d1c0340a1" /><Relationship Type="http://schemas.openxmlformats.org/officeDocument/2006/relationships/notesMaster" Target="/ppt/notesMasters/notesMaster1.xml" Id="R15ace248a6084d8c" /><Relationship Type="http://schemas.openxmlformats.org/officeDocument/2006/relationships/presProps" Target="/ppt/presProps.xml" Id="R9d5dd96a9f2542db" /><Relationship Type="http://schemas.openxmlformats.org/officeDocument/2006/relationships/tableStyles" Target="/ppt/tableStyles.xml" Id="R5272e6c22e054cb9" /><Relationship Type="http://schemas.openxmlformats.org/officeDocument/2006/relationships/slide" Target="/ppt/slides/slide1.xml" Id="R45832835b13141db" /><Relationship Type="http://schemas.openxmlformats.org/officeDocument/2006/relationships/slide" Target="/ppt/slides/slide2.xml" Id="R989b5e0d49774cad" /><Relationship Type="http://schemas.openxmlformats.org/officeDocument/2006/relationships/slide" Target="/ppt/slides/slide3.xml" Id="Rb5706a24ad814526" /><Relationship Type="http://schemas.openxmlformats.org/officeDocument/2006/relationships/slide" Target="/ppt/slides/slide4.xml" Id="R6eb9fa568d0f4326" /><Relationship Type="http://schemas.openxmlformats.org/officeDocument/2006/relationships/slide" Target="/ppt/slides/slide5.xml" Id="R62909de1fb2a4374" /><Relationship Type="http://schemas.openxmlformats.org/officeDocument/2006/relationships/slide" Target="/ppt/slides/slide6.xml" Id="R34da87e56acf41bc" /><Relationship Type="http://schemas.openxmlformats.org/officeDocument/2006/relationships/slide" Target="/ppt/slides/slide7.xml" Id="R84a60ae627d140e4" /><Relationship Type="http://schemas.openxmlformats.org/officeDocument/2006/relationships/slide" Target="/ppt/slides/slide8.xml" Id="R4f113dc163c848a7" /><Relationship Type="http://schemas.openxmlformats.org/officeDocument/2006/relationships/slide" Target="/ppt/slides/slide9.xml" Id="Rc0b6dd1eb1144542" /><Relationship Type="http://schemas.openxmlformats.org/officeDocument/2006/relationships/slide" Target="/ppt/slides/slide10.xml" Id="Re30eff6f350a46fe" /><Relationship Type="http://schemas.openxmlformats.org/officeDocument/2006/relationships/slide" Target="/ppt/slides/slide11.xml" Id="Rdfc347bc319449f6" /><Relationship Type="http://schemas.openxmlformats.org/officeDocument/2006/relationships/slide" Target="/ppt/slides/slide12.xml" Id="R2b88f9c529af42ba" /><Relationship Type="http://schemas.openxmlformats.org/officeDocument/2006/relationships/slide" Target="/ppt/slides/slide13.xml" Id="R670611da27524eca" /><Relationship Type="http://schemas.openxmlformats.org/officeDocument/2006/relationships/slide" Target="/ppt/slides/slide14.xml" Id="Rbb72c60a95c243a0" /><Relationship Type="http://schemas.openxmlformats.org/officeDocument/2006/relationships/slide" Target="/ppt/slides/slide15.xml" Id="R8f74cd66980c455b" /><Relationship Type="http://schemas.openxmlformats.org/officeDocument/2006/relationships/slide" Target="/ppt/slides/slide16.xml" Id="R62d2f2880f8e4159" /><Relationship Type="http://schemas.openxmlformats.org/officeDocument/2006/relationships/slide" Target="/ppt/slides/slide17.xml" Id="R98aae07150b44c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54698229e244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ahoma"/>
        <a:ea typeface=""/>
        <a:cs typeface=""/>
      </a:majorFont>
      <a:minorFont>
        <a:latin typeface="Tahoma"/>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da2cb2a3464d30" /><Relationship Type="http://schemas.openxmlformats.org/officeDocument/2006/relationships/notesMaster" Target="/ppt/notesMasters/notesMaster1.xml" Id="Rceb468ca737242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f281f2758f49ca" /><Relationship Type="http://schemas.openxmlformats.org/officeDocument/2006/relationships/notesMaster" Target="/ppt/notesMasters/notesMaster1.xml" Id="Rfe091191c98943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4db174953d4fb7" /><Relationship Type="http://schemas.openxmlformats.org/officeDocument/2006/relationships/notesMaster" Target="/ppt/notesMasters/notesMaster1.xml" Id="Re53a1d797f9345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ee012f75c34c32" /><Relationship Type="http://schemas.openxmlformats.org/officeDocument/2006/relationships/notesMaster" Target="/ppt/notesMasters/notesMaster1.xml" Id="R8af7a087f22d4e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2fa17eecb43c0" /><Relationship Type="http://schemas.openxmlformats.org/officeDocument/2006/relationships/notesMaster" Target="/ppt/notesMasters/notesMaster1.xml" Id="R86042d4361424f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91fd4276c34d81" /><Relationship Type="http://schemas.openxmlformats.org/officeDocument/2006/relationships/notesMaster" Target="/ppt/notesMasters/notesMaster1.xml" Id="R447a51e4564c4b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8990bcd4b24768" /><Relationship Type="http://schemas.openxmlformats.org/officeDocument/2006/relationships/notesMaster" Target="/ppt/notesMasters/notesMaster1.xml" Id="R0c50357896e34e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cddcd9a4874e5e" /><Relationship Type="http://schemas.openxmlformats.org/officeDocument/2006/relationships/notesMaster" Target="/ppt/notesMasters/notesMaster1.xml" Id="Rdbd69340565849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fd385db81244a0" /><Relationship Type="http://schemas.openxmlformats.org/officeDocument/2006/relationships/notesMaster" Target="/ppt/notesMasters/notesMaster1.xml" Id="R3a72a71b241440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eddf21a05048a4" /><Relationship Type="http://schemas.openxmlformats.org/officeDocument/2006/relationships/notesMaster" Target="/ppt/notesMasters/notesMaster1.xml" Id="R40f7da8ca36041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a5ba58048043ea" /><Relationship Type="http://schemas.openxmlformats.org/officeDocument/2006/relationships/notesMaster" Target="/ppt/notesMasters/notesMaster1.xml" Id="Re2843f8fa9fd4b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513ac353ea4448" /><Relationship Type="http://schemas.openxmlformats.org/officeDocument/2006/relationships/notesMaster" Target="/ppt/notesMasters/notesMaster1.xml" Id="R581cf3e15b5248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c0361b5a654760" /><Relationship Type="http://schemas.openxmlformats.org/officeDocument/2006/relationships/notesMaster" Target="/ppt/notesMasters/notesMaster1.xml" Id="R7336ec15662d44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98a10855ba4c80" /><Relationship Type="http://schemas.openxmlformats.org/officeDocument/2006/relationships/notesMaster" Target="/ppt/notesMasters/notesMaster1.xml" Id="R7e830aef57c74d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b5033a11274917" /><Relationship Type="http://schemas.openxmlformats.org/officeDocument/2006/relationships/notesMaster" Target="/ppt/notesMasters/notesMaster1.xml" Id="Re7b1374d277b46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e4eacd721d443e" /><Relationship Type="http://schemas.openxmlformats.org/officeDocument/2006/relationships/notesMaster" Target="/ppt/notesMasters/notesMaster1.xml" Id="R3f92a144461a4a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3baf51710d4eb0" /><Relationship Type="http://schemas.openxmlformats.org/officeDocument/2006/relationships/notesMaster" Target="/ppt/notesMasters/notesMaster1.xml" Id="R3fd18645bd7748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۴۰ ثانیه. Nexora را به‌عنوان فضای کاری مبتنی بر اسناد معرفی کنید. هدف، پاسخ قابل بررسی در محدودهٔ دانش مجاز است، نه تضمین صحت همهٔ پاسخ‌ها.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۵۰ ثانیه. مثال را فرضی معرفی کنید: کارمند برای پاسخ به یک سؤال باید چند دستورالعمل را جست‌وجو کند. مشکل به پراکندگی اطلاعات و امکان بررسی منبع مربوط است، نه ادعای آماری دربارهٔ زمان یا بهره‌وری.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۵۰ ثانیه. RAG یعنی بازیابی قطعه‌های مرتبط پیش از تولید پاسخ. Nexora دادهٔ سازمانی را به مجموعه‌های دانش تبدیل می‌کند و مدل با زمینهٔ بازیابی‌شده پاسخ می‌دهد.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۴۵ ثانیه. روند اصلی را از راست به چپ شرح دهید. صف پردازش و ایندکس پیش از پرسش به‌روز می‌شوند.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۹۰ ثانیه. رابط وب، API، پایگاه عملیاتی و موتور بازیابی را توضیح دهید. Worker و Scheduler از API جدا هستند. نمودار مستند معماری پروژه است.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۷۰ ثانیه. مسیر RAG را شرح دهید. ابتدا اسناد مجاز تعیین می‌شوند. جست‌وجوی ترکیبی و رتبه‌بندی زمینه را انتخاب می‌کنند. مدل، پرسش و تاریخچه را همراه با این زمینه دریافت می‌کند. جواب با منبع‌ها ذخیره می‌شود. منبع: documents/architecture/ARCHITECTURE.md و backend/app/services/retrieval.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۴۵ ثانیه. مجموعهٔ دانش را واحد سازمان‌دهی اسناد معرفی کنید. نمایش وضعیت سند و کنترل بارگذاری را نشان دهید. تصویر رابط محصول از نسخهٔ ثبت‌شده در تاریخچهٔ مخزن، documents/media/promo-frames. تصویر زندهٔ اجرای فعلی نیست.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۶۰ ثانیه. PDF و TXT متنی محلی استخراج می‌شوند. سند اسکن‌شده به OCR اختیاری نیاز دارد. متن قطعه‌بندی می‌شود و embedding برای بازیابی ساخته می‌شود. OCR ابری به مجوز ارسال محتوا نیاز دارد.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۶۰ ثانیه. نشان دهید که پرسش و پاسخ در یک گفتگوی ذخیره‌شده قرار دارند. بازیابی فقط روی اسناد مجاز انجام می‌شود. استناد نشانهٔ دسترسی به منبع است، نه تضمین قطعی صحت پاسخ. تصویر رابط محصول از نسخهٔ ثبت‌شده در تاریخچهٔ مخزن، documents/media/promo-frames. تصویر زندهٔ اجرای فعلی نیست.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۵۵ ثانیه. منبع، نام فایل و قطعه یا صفحهٔ مربوط را بررسی کنید. سه وضعیت پاسخ مستند، ترکیبی و پشتوانهٔ ناکافی را توضیح دهید. پیام نبود پاسخ، تضمین نمی‌کند که ارزیابی مدل همیشه درست است. تصویر رابط محصول از نسخهٔ ثبت‌شده در تاریخچهٔ مخزن، documents/media/promo-frames. تصویر زندهٔ اجرای فعلی نیست.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۷۰ ثانیه. نقش مدیر و کاربر را از سطح دسترسی مجموعه تفکیک کنید. کنترل‌های اصلی سمت سرور هستند. فیلتر اسناد در Qdrant مانع اتکا به پنهان‌کردن دکمه‌های UI می‌شود. این توصیف کنترل‌های پیاده‌سازی‌شده است، نه گواهی امنیت.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۵۰ ثانیه. نمونه‌های پشتیبانی‌شده شامل وب، GitHub، Drive، S3، SharePoint و Webhook هستند. هر اتصال به تنظیمات و مجوز خودش نیاز دارد. Scheduler کارها را زمان‌بندی می‌کند. تصویر رابط محصول از نسخهٔ ثبت‌شده در تاریخچهٔ مخزن، documents/media/promo-frames. تصویر زندهٔ اجرای فعلی نیست.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۵۵ ثانیه. انتخاب‌ها را بر اساس وظیفه توضیح دهید، نه فقط تعداد فناوری‌ها. PostgreSQL وضعیت عملیاتی را نگه می‌دارد؛ Qdrant بازیابی برداری را انجام می‌دهد.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۵۰ ثانیه. تست‌ها در سه سطح معرفی شوند. E2E موجود از پاسخ‌های کنترل‌شده استفاده می‌کند و کیفیت مدل زبانی واقعی را ثابت نمی‌کند. CI اجرای بررسی‌ها را خودکار می‌کند. منبع: documents/development/TESTING.md و frontend/app/package.json.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۶۰ ثانیه. محدودیت‌ها را صریح بیان کنید. هیچ نرخ دقت یا افزایش بهره‌وری بدون آزمایش ادعا نشود. ارسال داده به ارائه‌دهندگان خارجی باید با سیاست سازمان سازگار باشد. منابع پروژه: README.md و documents/architecture/ARCHITECTURE.md. قابلیت‌ها بر اساس کد و مستندات پروژه توصیف شده‌اند.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۹۰ ثانیه یا دمو زندهٔ جداگانه. از اسناد نمونهٔ غیرمحرمانه استفاده کنید. قبل از ارائه وضعیت API، Worker، Qdrant و ارائه‌دهنده را بررسی کنید. در صورت نبود اینترنت، تصاویر داخل ارائه برای شرح روند کافی هستند.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حدود ۴۵ ثانیه. Nexora محصول فعلی است. NexoLab و آموزش reranker فارسی را فقط به‌عنوان پیشنهاد آینده معرفی کنید، نه قابلیت موجود. پیوند مخزن پروژه: https://github.com/elmira-orooji/Nexora-Advanced-RAG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28f59698c64c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17726f73e04b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db0e5e57c740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f842702d704c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b4e467fa684b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8bd948d79145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9DC43C-AC6C-4FF4-A0CA-A10D5A30D8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9D8793C-4BCC-403E-83E0-7C5567C52C5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20A649-7CC7-492A-B25B-3EFD18FB17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641628-D8CE-4DAF-95E0-FDF910517A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C6B72C-F519-44CF-91CB-F8CB3217681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B82709C-03DF-4238-AFB9-919A466ED5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E85A60-DFB1-4D94-A6A5-5095982C6A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0BC398-AE2E-40CE-B939-C86483155D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EDFD5E-A8B7-410F-8CCC-E61E376F22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71ADD7-FCBF-46FC-9294-DF3AF2CFFE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957846167d45b7" /><Relationship Type="http://schemas.openxmlformats.org/officeDocument/2006/relationships/slideLayout" Target="/ppt/slideLayouts/slideLayout1.xml" Id="R402641dde1374042" /><Relationship Type="http://schemas.openxmlformats.org/officeDocument/2006/relationships/slideLayout" Target="/ppt/slideLayouts/slideLayout2.xml" Id="Rda4e8ccbd7104202" /><Relationship Type="http://schemas.openxmlformats.org/officeDocument/2006/relationships/slideLayout" Target="/ppt/slideLayouts/slideLayout3.xml" Id="R015a018dedfc4351" /><Relationship Type="http://schemas.openxmlformats.org/officeDocument/2006/relationships/slideLayout" Target="/ppt/slideLayouts/slideLayout4.xml" Id="R1fc1875ca4f6414b" /><Relationship Type="http://schemas.openxmlformats.org/officeDocument/2006/relationships/slideLayout" Target="/ppt/slideLayouts/slideLayout5.xml" Id="Ra94b486b78e74959" /><Relationship Type="http://schemas.openxmlformats.org/officeDocument/2006/relationships/slideLayout" Target="/ppt/slideLayouts/slideLayout6.xml" Id="R362bd10888904d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2641dde1374042"/>
    <p:sldLayoutId xmlns:r="http://schemas.openxmlformats.org/officeDocument/2006/relationships" id="2147483650" r:id="Rda4e8ccbd7104202"/>
    <p:sldLayoutId xmlns:r="http://schemas.openxmlformats.org/officeDocument/2006/relationships" id="2147483651" r:id="R015a018dedfc4351"/>
    <p:sldLayoutId xmlns:r="http://schemas.openxmlformats.org/officeDocument/2006/relationships" id="2147483652" r:id="R1fc1875ca4f6414b"/>
    <p:sldLayoutId xmlns:r="http://schemas.openxmlformats.org/officeDocument/2006/relationships" id="2147483653" r:id="Ra94b486b78e74959"/>
    <p:sldLayoutId xmlns:r="http://schemas.openxmlformats.org/officeDocument/2006/relationships" id="2147483654" r:id="R362bd10888904d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ahoma"/>
        <a:ea typeface=""/>
        <a:cs typeface=""/>
      </a:majorFont>
      <a:minorFont>
        <a:latin typeface="Tahoma"/>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5b6cca31f841a2" /><Relationship Type="http://schemas.openxmlformats.org/officeDocument/2006/relationships/image" Target="/ppt/media/image.png" Id="Re87ab6170ce3459f" /><Relationship Type="http://schemas.openxmlformats.org/officeDocument/2006/relationships/image" Target="/ppt/media/image.svg" Id="R52f72317962445ad" /><Relationship Type="http://schemas.openxmlformats.org/officeDocument/2006/relationships/image" Target="/ppt/media/image2.png" Id="R9403bdac9cb344a9" /><Relationship Type="http://schemas.openxmlformats.org/officeDocument/2006/relationships/notesSlide" Target="/ppt/notesSlides/notesSlide1.xml" Id="R6f386b8cf7d64a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33a43da8d54c99" /><Relationship Type="http://schemas.openxmlformats.org/officeDocument/2006/relationships/notesSlide" Target="/ppt/notesSlides/notesSlide2.xml" Id="R95cc837fa0bb43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b13bfb0ab64a48" /><Relationship Type="http://schemas.openxmlformats.org/officeDocument/2006/relationships/notesSlide" Target="/ppt/notesSlides/notesSlide3.xml" Id="R6cfc5027976f47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b1dc52156a42f2" /><Relationship Type="http://schemas.openxmlformats.org/officeDocument/2006/relationships/notesSlide" Target="/ppt/notesSlides/notesSlide4.xml" Id="R64c739043edf4b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b33df8531042a1" /><Relationship Type="http://schemas.openxmlformats.org/officeDocument/2006/relationships/image" Target="/ppt/media/image3.png" Id="Rfc0d84a1400c49fd" /><Relationship Type="http://schemas.openxmlformats.org/officeDocument/2006/relationships/notesSlide" Target="/ppt/notesSlides/notesSlide5.xml" Id="R52ffb1bcdde444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5c7630b26f48e0" /><Relationship Type="http://schemas.openxmlformats.org/officeDocument/2006/relationships/notesSlide" Target="/ppt/notesSlides/notesSlide6.xml" Id="R9a2a1360a0e24c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794621c08e48f6" /><Relationship Type="http://schemas.openxmlformats.org/officeDocument/2006/relationships/image" Target="/ppt/media/image.jpeg" Id="Rc2afb9eebdc44098" /><Relationship Type="http://schemas.openxmlformats.org/officeDocument/2006/relationships/notesSlide" Target="/ppt/notesSlides/notesSlide7.xml" Id="R6eaf8f642c8440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0f68cb4ae54f62" /><Relationship Type="http://schemas.openxmlformats.org/officeDocument/2006/relationships/image" Target="/ppt/media/image2.jpeg" Id="Ra2b54bb9df7e4ccd" /><Relationship Type="http://schemas.openxmlformats.org/officeDocument/2006/relationships/notesSlide" Target="/ppt/notesSlides/notesSlide8.xml" Id="Rd71913a6b07144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18cb3a77864fe8" /><Relationship Type="http://schemas.openxmlformats.org/officeDocument/2006/relationships/image" Target="/ppt/media/image3.jpeg" Id="R87a23f794cd747cd" /><Relationship Type="http://schemas.openxmlformats.org/officeDocument/2006/relationships/notesSlide" Target="/ppt/notesSlides/notesSlide9.xml" Id="Re2f6134e6b7c4f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132889f76a54d20" /><Relationship Type="http://schemas.openxmlformats.org/officeDocument/2006/relationships/image" Target="/ppt/media/image4.jpeg" Id="R99497cae565048a4" /><Relationship Type="http://schemas.openxmlformats.org/officeDocument/2006/relationships/notesSlide" Target="/ppt/notesSlides/notesSlide10.xml" Id="Ra389f283077b42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15ed6738c834a2e" /><Relationship Type="http://schemas.openxmlformats.org/officeDocument/2006/relationships/notesSlide" Target="/ppt/notesSlides/notesSlide11.xml" Id="Rf08ad1b168774c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0c889e95764b20" /><Relationship Type="http://schemas.openxmlformats.org/officeDocument/2006/relationships/image" Target="/ppt/media/image5.jpeg" Id="Ra34604d443cb4aae" /><Relationship Type="http://schemas.openxmlformats.org/officeDocument/2006/relationships/notesSlide" Target="/ppt/notesSlides/notesSlide12.xml" Id="R3a7099a6ad4a42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9f7ea19b254311" /><Relationship Type="http://schemas.openxmlformats.org/officeDocument/2006/relationships/notesSlide" Target="/ppt/notesSlides/notesSlide13.xml" Id="R0e4a5ad10cd44d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151005218fd40ae" /><Relationship Type="http://schemas.openxmlformats.org/officeDocument/2006/relationships/notesSlide" Target="/ppt/notesSlides/notesSlide14.xml" Id="Re9c19240fb8d4e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ea13f468fa64519" /><Relationship Type="http://schemas.openxmlformats.org/officeDocument/2006/relationships/notesSlide" Target="/ppt/notesSlides/notesSlide15.xml" Id="Rdafd3324cce042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3fc5ed9716d4013" /><Relationship Type="http://schemas.openxmlformats.org/officeDocument/2006/relationships/notesSlide" Target="/ppt/notesSlides/notesSlide16.xml" Id="R95708fce0bdd4b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e68a32e5d34c9a" /><Relationship Type="http://schemas.openxmlformats.org/officeDocument/2006/relationships/image" Target="/ppt/media/image4.png" Id="R6423e14dd55042a5" /><Relationship Type="http://schemas.openxmlformats.org/officeDocument/2006/relationships/image" Target="/ppt/media/image2.svg" Id="R6b0d00ac5f774e10" /><Relationship Type="http://schemas.openxmlformats.org/officeDocument/2006/relationships/notesSlide" Target="/ppt/notesSlides/notesSlide17.xml" Id="R2307a8dc796c4220" /></Relationships>
</file>

<file path=ppt/slides/slide1.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D212F52-F230-4DE9-82F6-61F3C8CD5C77}"/>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01</a:t>
            </a:r>
          </a:p>
        </p:txBody>
      </p:sp>
      <p:pic>
        <p:nvPicPr>
          <p:cNvPr id="2" name="">
            <a:extLst xmlns:a="http://schemas.openxmlformats.org/drawingml/2006/main">
              <a:ext uri="{FF2B5EF4-FFF2-40B4-BE49-F238E27FC236}">
                <a16:creationId xmlns:a16="http://schemas.microsoft.com/office/drawing/2014/main" id="{4A546E13-12FE-4009-B602-26FB2C689B5B}"/>
              </a:ext>
            </a:extLst>
          </p:cNvPr>
          <p:cNvPicPr>
            <a:picLocks xmlns:a="http://schemas.openxmlformats.org/drawingml/2006/main" noChangeAspect="1"/>
          </p:cNvPicPr>
          <p:nvPr/>
        </p:nvPicPr>
        <p:blipFill>
          <a:blip xmlns:r="http://schemas.openxmlformats.org/officeDocument/2006/relationships" xmlns:a="http://schemas.openxmlformats.org/drawingml/2006/main" r:embed="Re87ab6170ce3459f">
            <a:extLst>
              <a:ext uri="{96DAC541-7B7A-43D3-8B79-37D633B846F1}">
                <asvg:svgBlip xmlns:asvg="http://schemas.microsoft.com/office/drawing/2016/SVG/main" r:embed="R52f72317962445ad"/>
              </a:ext>
            </a:extLst>
          </a:blip>
          <a:stretch xmlns:a="http://schemas.openxmlformats.org/drawingml/2006/main"/>
        </p:blipFill>
        <p:spPr>
          <a:xfrm xmlns:a="http://schemas.openxmlformats.org/drawingml/2006/main">
            <a:off x="7905750" y="609600"/>
            <a:ext cx="3476625" cy="74295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36294CDF-0AC5-4F8D-A340-54952C0217E7}"/>
              </a:ext>
            </a:extLst>
          </p:cNvPr>
          <p:cNvPicPr>
            <a:picLocks xmlns:a="http://schemas.openxmlformats.org/drawingml/2006/main" noChangeAspect="1"/>
          </p:cNvPicPr>
          <p:nvPr/>
        </p:nvPicPr>
        <p:blipFill>
          <a:blip xmlns:r="http://schemas.openxmlformats.org/officeDocument/2006/relationships" xmlns:a="http://schemas.openxmlformats.org/drawingml/2006/main" r:embed="R9403bdac9cb344a9"/>
          <a:stretch xmlns:a="http://schemas.openxmlformats.org/drawingml/2006/main"/>
        </p:blipFill>
        <p:spPr>
          <a:xfrm xmlns:a="http://schemas.openxmlformats.org/drawingml/2006/main">
            <a:off x="866775" y="1123950"/>
            <a:ext cx="4267200" cy="5334000"/>
          </a:xfrm>
          <a:prstGeom xmlns:a="http://schemas.openxmlformats.org/drawingml/2006/main" prst="rect">
            <a:avLst/>
          </a:prstGeom>
        </p:spPr>
      </p:pic>
      <p:sp>
        <p:nvSpPr>
          <p:cNvPr id="4" name="text-1">
            <a:extLst xmlns:a="http://schemas.openxmlformats.org/drawingml/2006/main">
              <a:ext uri="{FF2B5EF4-FFF2-40B4-BE49-F238E27FC236}">
                <a16:creationId xmlns:a16="http://schemas.microsoft.com/office/drawing/2014/main" id="{B6E66B94-2F5E-49BB-9B35-4B24AD56295C}"/>
              </a:ext>
            </a:extLst>
          </p:cNvPr>
          <p:cNvSpPr>
            <a:spLocks xmlns:a="http://schemas.openxmlformats.org/drawingml/2006/main" noGrp="1"/>
          </p:cNvSpPr>
          <p:nvPr/>
        </p:nvSpPr>
        <p:spPr>
          <a:xfrm xmlns:a="http://schemas.openxmlformats.org/drawingml/2006/main">
            <a:off x="5762625" y="2333625"/>
            <a:ext cx="576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975" b="1">
                <a:solidFill>
                  <a:srgbClr val="FAF9FD"/>
                </a:solidFill>
                <a:latin typeface="Tahoma"/>
                <a:ea typeface="Tahoma"/>
                <a:cs typeface="Tahoma"/>
              </a:defRPr>
            </a:defPPr>
          </a:lstStyle>
          <a:p xmlns:a="http://schemas.openxmlformats.org/drawingml/2006/main">
            <a:pPr algn="r" rtl="1">
              <a:defRPr sz="3975" b="1">
                <a:solidFill>
                  <a:srgbClr val="FAF9FD"/>
                </a:solidFill>
                <a:latin typeface="Tahoma"/>
                <a:ea typeface="Tahoma"/>
                <a:cs typeface="Tahoma"/>
              </a:defRPr>
            </a:pPr>
            <a:r>
              <a:rPr sz="3975" b="1" lang="fa-IR">
                <a:solidFill>
                  <a:srgbClr val="FAF9FD"/>
                </a:solidFill>
                <a:latin typeface="Tahoma"/>
                <a:ea typeface="Tahoma"/>
                <a:cs typeface="Tahoma"/>
              </a:rPr>
              <a:t>فضای کاری هوشمند</a:t>
            </a:r>
          </a:p>
          <a:p xmlns:a="http://schemas.openxmlformats.org/drawingml/2006/main">
            <a:pPr algn="r" rtl="1">
              <a:defRPr sz="3975" b="1">
                <a:solidFill>
                  <a:srgbClr val="FAF9FD"/>
                </a:solidFill>
                <a:latin typeface="Tahoma"/>
                <a:ea typeface="Tahoma"/>
                <a:cs typeface="Tahoma"/>
              </a:defRPr>
            </a:pPr>
            <a:r>
              <a:rPr sz="3975" b="1" lang="fa-IR">
                <a:solidFill>
                  <a:srgbClr val="FAF9FD"/>
                </a:solidFill>
                <a:latin typeface="Tahoma"/>
                <a:ea typeface="Tahoma"/>
                <a:cs typeface="Tahoma"/>
              </a:rPr>
              <a:t>مبتنی بر اسناد</a:t>
            </a:r>
          </a:p>
        </p:txBody>
      </p:sp>
      <p:sp>
        <p:nvSpPr>
          <p:cNvPr id="5" name="text-2">
            <a:extLst xmlns:a="http://schemas.openxmlformats.org/drawingml/2006/main">
              <a:ext uri="{FF2B5EF4-FFF2-40B4-BE49-F238E27FC236}">
                <a16:creationId xmlns:a16="http://schemas.microsoft.com/office/drawing/2014/main" id="{BA289E90-F1A3-4B5E-9FCE-C7AD62251A8F}"/>
              </a:ext>
            </a:extLst>
          </p:cNvPr>
          <p:cNvSpPr>
            <a:spLocks xmlns:a="http://schemas.openxmlformats.org/drawingml/2006/main" noGrp="1"/>
          </p:cNvSpPr>
          <p:nvPr/>
        </p:nvSpPr>
        <p:spPr>
          <a:xfrm xmlns:a="http://schemas.openxmlformats.org/drawingml/2006/main">
            <a:off x="5762625" y="4333875"/>
            <a:ext cx="5762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0">
                <a:solidFill>
                  <a:srgbClr val="B8B0CC"/>
                </a:solidFill>
                <a:latin typeface="Tahoma"/>
                <a:ea typeface="Tahoma"/>
                <a:cs typeface="Tahoma"/>
              </a:defRPr>
            </a:defPPr>
          </a:lstStyle>
          <a:p xmlns:a="http://schemas.openxmlformats.org/drawingml/2006/main">
            <a:pPr algn="r" rtl="1">
              <a:defRPr sz="2025" b="0">
                <a:solidFill>
                  <a:srgbClr val="B8B0CC"/>
                </a:solidFill>
                <a:latin typeface="Tahoma"/>
                <a:ea typeface="Tahoma"/>
                <a:cs typeface="Tahoma"/>
              </a:defRPr>
            </a:pPr>
            <a:r>
              <a:rPr sz="2025" b="0" lang="fa-IR">
                <a:solidFill>
                  <a:srgbClr val="B8B0CC"/>
                </a:solidFill>
                <a:latin typeface="Tahoma"/>
                <a:ea typeface="Tahoma"/>
                <a:cs typeface="Tahoma"/>
              </a:rPr>
              <a:t>بازیابی دانش، پاسخ مستند و کنترل دسترسی</a:t>
            </a:r>
          </a:p>
        </p:txBody>
      </p:sp>
      <p:sp>
        <p:nvSpPr>
          <p:cNvPr id="6" name="text-3">
            <a:extLst xmlns:a="http://schemas.openxmlformats.org/drawingml/2006/main">
              <a:ext uri="{FF2B5EF4-FFF2-40B4-BE49-F238E27FC236}">
                <a16:creationId xmlns:a16="http://schemas.microsoft.com/office/drawing/2014/main" id="{8AB5CC2C-1B74-4736-9C14-B8CB5F661968}"/>
              </a:ext>
            </a:extLst>
          </p:cNvPr>
          <p:cNvSpPr>
            <a:spLocks xmlns:a="http://schemas.openxmlformats.org/drawingml/2006/main" noGrp="1"/>
          </p:cNvSpPr>
          <p:nvPr/>
        </p:nvSpPr>
        <p:spPr>
          <a:xfrm xmlns:a="http://schemas.openxmlformats.org/drawingml/2006/main">
            <a:off x="7715250" y="56292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9B86E1"/>
                </a:solidFill>
                <a:latin typeface="Tahoma"/>
                <a:ea typeface="Tahoma"/>
                <a:cs typeface="Tahoma"/>
              </a:defRPr>
            </a:defPPr>
          </a:lstStyle>
          <a:p xmlns:a="http://schemas.openxmlformats.org/drawingml/2006/main">
            <a:pPr algn="r" rtl="1">
              <a:defRPr sz="1650" b="0">
                <a:solidFill>
                  <a:srgbClr val="9B86E1"/>
                </a:solidFill>
                <a:latin typeface="Tahoma"/>
                <a:ea typeface="Tahoma"/>
                <a:cs typeface="Tahoma"/>
              </a:defRPr>
            </a:pPr>
            <a:r>
              <a:rPr sz="1650" b="0" lang="fa-IR">
                <a:solidFill>
                  <a:srgbClr val="9B86E1"/>
                </a:solidFill>
                <a:latin typeface="Tahoma"/>
                <a:ea typeface="Tahoma"/>
                <a:cs typeface="Tahoma"/>
              </a:rPr>
              <a:t>ارائهٔ پروژهٔ نرم‌افزاری</a:t>
            </a:r>
          </a:p>
        </p:txBody>
      </p:sp>
    </p:spTree>
    <p:extLst>
      <p:ext uri="{BB962C8B-B14F-4D97-AF65-F5344CB8AC3E}">
        <p14:creationId xmlns:p14="http://schemas.microsoft.com/office/powerpoint/2010/main" val="96097178"/>
      </p:ext>
    </p:extLst>
  </p:cSld>
</p:sld>
</file>

<file path=ppt/slides/slide2.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8B7541C-1EB3-4A0C-8B30-4DA28ADEC679}"/>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مسئلهٔ دسترسی به دانش سازمانی</a:t>
            </a:r>
          </a:p>
        </p:txBody>
      </p:sp>
      <p:sp>
        <p:nvSpPr>
          <p:cNvPr id="2" name="text-1">
            <a:extLst xmlns:a="http://schemas.openxmlformats.org/drawingml/2006/main">
              <a:ext uri="{FF2B5EF4-FFF2-40B4-BE49-F238E27FC236}">
                <a16:creationId xmlns:a16="http://schemas.microsoft.com/office/drawing/2014/main" id="{DD103D2B-3674-4F11-A2D8-3F811911C6A3}"/>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02</a:t>
            </a:r>
          </a:p>
        </p:txBody>
      </p:sp>
      <p:sp>
        <p:nvSpPr>
          <p:cNvPr id="3" name="text-2">
            <a:extLst xmlns:a="http://schemas.openxmlformats.org/drawingml/2006/main">
              <a:ext uri="{FF2B5EF4-FFF2-40B4-BE49-F238E27FC236}">
                <a16:creationId xmlns:a16="http://schemas.microsoft.com/office/drawing/2014/main" id="{99B52A65-9180-4E11-B7F3-10411346279B}"/>
              </a:ext>
            </a:extLst>
          </p:cNvPr>
          <p:cNvSpPr>
            <a:spLocks xmlns:a="http://schemas.openxmlformats.org/drawingml/2006/main" noGrp="1"/>
          </p:cNvSpPr>
          <p:nvPr/>
        </p:nvSpPr>
        <p:spPr>
          <a:xfrm xmlns:a="http://schemas.openxmlformats.org/drawingml/2006/main">
            <a:off x="1619250" y="1809750"/>
            <a:ext cx="990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75" b="1">
                <a:solidFill>
                  <a:srgbClr val="FAF9FD"/>
                </a:solidFill>
                <a:latin typeface="Tahoma"/>
                <a:ea typeface="Tahoma"/>
                <a:cs typeface="Tahoma"/>
              </a:defRPr>
            </a:defPPr>
          </a:lstStyle>
          <a:p xmlns:a="http://schemas.openxmlformats.org/drawingml/2006/main">
            <a:pPr algn="r" rtl="1">
              <a:defRPr sz="3375" b="1">
                <a:solidFill>
                  <a:srgbClr val="FAF9FD"/>
                </a:solidFill>
                <a:latin typeface="Tahoma"/>
                <a:ea typeface="Tahoma"/>
                <a:cs typeface="Tahoma"/>
              </a:defRPr>
            </a:pPr>
            <a:r>
              <a:rPr sz="3375" b="1" lang="fa-IR">
                <a:solidFill>
                  <a:srgbClr val="FAF9FD"/>
                </a:solidFill>
                <a:latin typeface="Tahoma"/>
                <a:ea typeface="Tahoma"/>
                <a:cs typeface="Tahoma"/>
              </a:rPr>
              <a:t>پاسخ در میان فایل‌هاست؛</a:t>
            </a:r>
          </a:p>
          <a:p xmlns:a="http://schemas.openxmlformats.org/drawingml/2006/main">
            <a:pPr algn="r" rtl="1">
              <a:defRPr sz="3375" b="1">
                <a:solidFill>
                  <a:srgbClr val="FAF9FD"/>
                </a:solidFill>
                <a:latin typeface="Tahoma"/>
                <a:ea typeface="Tahoma"/>
                <a:cs typeface="Tahoma"/>
              </a:defRPr>
            </a:pPr>
            <a:r>
              <a:rPr sz="3375" b="1" lang="fa-IR">
                <a:solidFill>
                  <a:srgbClr val="FAF9FD"/>
                </a:solidFill>
                <a:latin typeface="Tahoma"/>
                <a:ea typeface="Tahoma"/>
                <a:cs typeface="Tahoma"/>
              </a:rPr>
              <a:t>یافتن و بررسی آن ساده نیست.</a:t>
            </a:r>
          </a:p>
        </p:txBody>
      </p:sp>
      <p:sp>
        <p:nvSpPr>
          <p:cNvPr id="4" name="text-3">
            <a:extLst xmlns:a="http://schemas.openxmlformats.org/drawingml/2006/main">
              <a:ext uri="{FF2B5EF4-FFF2-40B4-BE49-F238E27FC236}">
                <a16:creationId xmlns:a16="http://schemas.microsoft.com/office/drawing/2014/main" id="{3D571329-79DA-43F9-BE0B-E7756E93B486}"/>
              </a:ext>
            </a:extLst>
          </p:cNvPr>
          <p:cNvSpPr>
            <a:spLocks xmlns:a="http://schemas.openxmlformats.org/drawingml/2006/main" noGrp="1"/>
          </p:cNvSpPr>
          <p:nvPr/>
        </p:nvSpPr>
        <p:spPr>
          <a:xfrm xmlns:a="http://schemas.openxmlformats.org/drawingml/2006/main">
            <a:off x="6667500" y="380047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اسناد پراکنده</a:t>
            </a:r>
          </a:p>
        </p:txBody>
      </p:sp>
      <p:sp>
        <p:nvSpPr>
          <p:cNvPr id="5" name="text-4">
            <a:extLst xmlns:a="http://schemas.openxmlformats.org/drawingml/2006/main">
              <a:ext uri="{FF2B5EF4-FFF2-40B4-BE49-F238E27FC236}">
                <a16:creationId xmlns:a16="http://schemas.microsoft.com/office/drawing/2014/main" id="{F05C43A1-C046-4B2B-963B-AA41123FE71E}"/>
              </a:ext>
            </a:extLst>
          </p:cNvPr>
          <p:cNvSpPr>
            <a:spLocks xmlns:a="http://schemas.openxmlformats.org/drawingml/2006/main" noGrp="1"/>
          </p:cNvSpPr>
          <p:nvPr/>
        </p:nvSpPr>
        <p:spPr>
          <a:xfrm xmlns:a="http://schemas.openxmlformats.org/drawingml/2006/main">
            <a:off x="6667500" y="44196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اطلاعات مرتبط در فایل‌ها و منابع مختلف قرار دارند.</a:t>
            </a:r>
          </a:p>
        </p:txBody>
      </p:sp>
      <p:sp>
        <p:nvSpPr>
          <p:cNvPr id="6" name="text-5">
            <a:extLst xmlns:a="http://schemas.openxmlformats.org/drawingml/2006/main">
              <a:ext uri="{FF2B5EF4-FFF2-40B4-BE49-F238E27FC236}">
                <a16:creationId xmlns:a16="http://schemas.microsoft.com/office/drawing/2014/main" id="{26D859BE-CA65-493A-9AB2-F81BC6B4D629}"/>
              </a:ext>
            </a:extLst>
          </p:cNvPr>
          <p:cNvSpPr>
            <a:spLocks xmlns:a="http://schemas.openxmlformats.org/drawingml/2006/main" noGrp="1"/>
          </p:cNvSpPr>
          <p:nvPr/>
        </p:nvSpPr>
        <p:spPr>
          <a:xfrm xmlns:a="http://schemas.openxmlformats.org/drawingml/2006/main">
            <a:off x="762000" y="380047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پاسخ بدون پشتوانه</a:t>
            </a:r>
          </a:p>
        </p:txBody>
      </p:sp>
      <p:sp>
        <p:nvSpPr>
          <p:cNvPr id="7" name="text-6">
            <a:extLst xmlns:a="http://schemas.openxmlformats.org/drawingml/2006/main">
              <a:ext uri="{FF2B5EF4-FFF2-40B4-BE49-F238E27FC236}">
                <a16:creationId xmlns:a16="http://schemas.microsoft.com/office/drawing/2014/main" id="{400F6E6F-5393-4559-A22B-B9621A030BB1}"/>
              </a:ext>
            </a:extLst>
          </p:cNvPr>
          <p:cNvSpPr>
            <a:spLocks xmlns:a="http://schemas.openxmlformats.org/drawingml/2006/main" noGrp="1"/>
          </p:cNvSpPr>
          <p:nvPr/>
        </p:nvSpPr>
        <p:spPr>
          <a:xfrm xmlns:a="http://schemas.openxmlformats.org/drawingml/2006/main">
            <a:off x="762000" y="44196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منبع ادعا و نبود شواهد باید برای کاربر روشن باشد.</a:t>
            </a:r>
          </a:p>
        </p:txBody>
      </p:sp>
    </p:spTree>
    <p:extLst>
      <p:ext uri="{BB962C8B-B14F-4D97-AF65-F5344CB8AC3E}">
        <p14:creationId xmlns:p14="http://schemas.microsoft.com/office/powerpoint/2010/main" val="1191764037"/>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79AA428-6FAD-4F92-90E4-BF5580DCF983}"/>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211B32"/>
                </a:solidFill>
                <a:latin typeface="Tahoma"/>
                <a:ea typeface="Tahoma"/>
                <a:cs typeface="Tahoma"/>
              </a:defRPr>
            </a:defPPr>
          </a:lstStyle>
          <a:p xmlns:a="http://schemas.openxmlformats.org/drawingml/2006/main">
            <a:pPr algn="r" rtl="1">
              <a:defRPr sz="3300" b="1">
                <a:solidFill>
                  <a:srgbClr val="211B32"/>
                </a:solidFill>
                <a:latin typeface="Tahoma"/>
                <a:ea typeface="Tahoma"/>
                <a:cs typeface="Tahoma"/>
              </a:defRPr>
            </a:pPr>
            <a:r>
              <a:rPr sz="3300" b="1" lang="fa-IR">
                <a:solidFill>
                  <a:srgbClr val="211B32"/>
                </a:solidFill>
                <a:latin typeface="Tahoma"/>
                <a:ea typeface="Tahoma"/>
                <a:cs typeface="Tahoma"/>
              </a:rPr>
              <a:t>راهکار Nexora</a:t>
            </a:r>
          </a:p>
        </p:txBody>
      </p:sp>
      <p:sp>
        <p:nvSpPr>
          <p:cNvPr id="2" name="text-1">
            <a:extLst xmlns:a="http://schemas.openxmlformats.org/drawingml/2006/main">
              <a:ext uri="{FF2B5EF4-FFF2-40B4-BE49-F238E27FC236}">
                <a16:creationId xmlns:a16="http://schemas.microsoft.com/office/drawing/2014/main" id="{FF817C15-E935-42BB-8EF7-B4988714A88B}"/>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777084"/>
                </a:solidFill>
                <a:latin typeface="Tahoma"/>
                <a:ea typeface="Tahoma"/>
                <a:cs typeface="Tahoma"/>
              </a:defRPr>
            </a:defPPr>
          </a:lstStyle>
          <a:p xmlns:a="http://schemas.openxmlformats.org/drawingml/2006/main">
            <a:pPr algn="l" rtl="1">
              <a:defRPr sz="1275" b="0">
                <a:solidFill>
                  <a:srgbClr val="777084"/>
                </a:solidFill>
                <a:latin typeface="Tahoma"/>
                <a:ea typeface="Tahoma"/>
                <a:cs typeface="Tahoma"/>
              </a:defRPr>
            </a:pPr>
            <a:r>
              <a:rPr sz="1275" b="0" lang="fa-IR">
                <a:solidFill>
                  <a:srgbClr val="777084"/>
                </a:solidFill>
                <a:latin typeface="Tahoma"/>
                <a:ea typeface="Tahoma"/>
                <a:cs typeface="Tahoma"/>
              </a:rPr>
              <a:t>03</a:t>
            </a:r>
          </a:p>
        </p:txBody>
      </p:sp>
      <p:sp>
        <p:nvSpPr>
          <p:cNvPr id="3" name="text-2">
            <a:extLst xmlns:a="http://schemas.openxmlformats.org/drawingml/2006/main">
              <a:ext uri="{FF2B5EF4-FFF2-40B4-BE49-F238E27FC236}">
                <a16:creationId xmlns:a16="http://schemas.microsoft.com/office/drawing/2014/main" id="{6923E21A-A2A3-4713-9D73-67FBB07432D6}"/>
              </a:ext>
            </a:extLst>
          </p:cNvPr>
          <p:cNvSpPr>
            <a:spLocks xmlns:a="http://schemas.openxmlformats.org/drawingml/2006/main" noGrp="1"/>
          </p:cNvSpPr>
          <p:nvPr/>
        </p:nvSpPr>
        <p:spPr>
          <a:xfrm xmlns:a="http://schemas.openxmlformats.org/drawingml/2006/main">
            <a:off x="1714500" y="180975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750" b="1">
                <a:solidFill>
                  <a:srgbClr val="211B32"/>
                </a:solidFill>
                <a:latin typeface="Tahoma"/>
                <a:ea typeface="Tahoma"/>
                <a:cs typeface="Tahoma"/>
              </a:defRPr>
            </a:defPPr>
          </a:lstStyle>
          <a:p xmlns:a="http://schemas.openxmlformats.org/drawingml/2006/main">
            <a:pPr algn="r" rtl="1">
              <a:defRPr sz="3750" b="1">
                <a:solidFill>
                  <a:srgbClr val="211B32"/>
                </a:solidFill>
                <a:latin typeface="Tahoma"/>
                <a:ea typeface="Tahoma"/>
                <a:cs typeface="Tahoma"/>
              </a:defRPr>
            </a:pPr>
            <a:r>
              <a:rPr sz="3750" b="1" lang="fa-IR">
                <a:solidFill>
                  <a:srgbClr val="211B32"/>
                </a:solidFill>
                <a:latin typeface="Tahoma"/>
                <a:ea typeface="Tahoma"/>
                <a:cs typeface="Tahoma"/>
              </a:rPr>
              <a:t>پاسخ بر پایهٔ دانش مجاز</a:t>
            </a:r>
          </a:p>
        </p:txBody>
      </p:sp>
      <p:sp>
        <p:nvSpPr>
          <p:cNvPr id="4" name="text-3">
            <a:extLst xmlns:a="http://schemas.openxmlformats.org/drawingml/2006/main">
              <a:ext uri="{FF2B5EF4-FFF2-40B4-BE49-F238E27FC236}">
                <a16:creationId xmlns:a16="http://schemas.microsoft.com/office/drawing/2014/main" id="{9AE59F5A-6BFD-4DFC-B563-DAF6D7E9AC80}"/>
              </a:ext>
            </a:extLst>
          </p:cNvPr>
          <p:cNvSpPr>
            <a:spLocks xmlns:a="http://schemas.openxmlformats.org/drawingml/2006/main" noGrp="1"/>
          </p:cNvSpPr>
          <p:nvPr/>
        </p:nvSpPr>
        <p:spPr>
          <a:xfrm xmlns:a="http://schemas.openxmlformats.org/drawingml/2006/main">
            <a:off x="6762750" y="33337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56379F"/>
                </a:solidFill>
                <a:latin typeface="Tahoma"/>
                <a:ea typeface="Tahoma"/>
                <a:cs typeface="Tahoma"/>
              </a:defRPr>
            </a:defPPr>
          </a:lstStyle>
          <a:p xmlns:a="http://schemas.openxmlformats.org/drawingml/2006/main">
            <a:pPr algn="r" rtl="1">
              <a:defRPr sz="2250" b="1">
                <a:solidFill>
                  <a:srgbClr val="56379F"/>
                </a:solidFill>
                <a:latin typeface="Tahoma"/>
                <a:ea typeface="Tahoma"/>
                <a:cs typeface="Tahoma"/>
              </a:defRPr>
            </a:pPr>
            <a:r>
              <a:rPr sz="2250" b="1" lang="fa-IR">
                <a:solidFill>
                  <a:srgbClr val="56379F"/>
                </a:solidFill>
                <a:latin typeface="Tahoma"/>
                <a:ea typeface="Tahoma"/>
                <a:cs typeface="Tahoma"/>
              </a:rPr>
              <a:t>محدودهٔ مشخص</a:t>
            </a:r>
          </a:p>
        </p:txBody>
      </p:sp>
      <p:sp>
        <p:nvSpPr>
          <p:cNvPr id="5" name="text-4">
            <a:extLst xmlns:a="http://schemas.openxmlformats.org/drawingml/2006/main">
              <a:ext uri="{FF2B5EF4-FFF2-40B4-BE49-F238E27FC236}">
                <a16:creationId xmlns:a16="http://schemas.microsoft.com/office/drawing/2014/main" id="{56E24C94-96EE-4832-B0BE-037FE40EEC5D}"/>
              </a:ext>
            </a:extLst>
          </p:cNvPr>
          <p:cNvSpPr>
            <a:spLocks xmlns:a="http://schemas.openxmlformats.org/drawingml/2006/main" noGrp="1"/>
          </p:cNvSpPr>
          <p:nvPr/>
        </p:nvSpPr>
        <p:spPr>
          <a:xfrm xmlns:a="http://schemas.openxmlformats.org/drawingml/2006/main">
            <a:off x="6762750" y="3952875"/>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11B32"/>
                </a:solidFill>
                <a:latin typeface="Tahoma"/>
                <a:ea typeface="Tahoma"/>
                <a:cs typeface="Tahoma"/>
              </a:defRPr>
            </a:defPPr>
          </a:lstStyle>
          <a:p xmlns:a="http://schemas.openxmlformats.org/drawingml/2006/main">
            <a:pPr algn="r" rtl="1">
              <a:defRPr sz="1875" b="0">
                <a:solidFill>
                  <a:srgbClr val="211B32"/>
                </a:solidFill>
                <a:latin typeface="Tahoma"/>
                <a:ea typeface="Tahoma"/>
                <a:cs typeface="Tahoma"/>
              </a:defRPr>
            </a:pPr>
            <a:r>
              <a:rPr sz="1875" b="0" lang="fa-IR">
                <a:solidFill>
                  <a:srgbClr val="211B32"/>
                </a:solidFill>
                <a:latin typeface="Tahoma"/>
                <a:ea typeface="Tahoma"/>
                <a:cs typeface="Tahoma"/>
              </a:rPr>
              <a:t>کاربر مجموعهٔ دانش یا دستیار مرتبط را انتخاب می‌کند.</a:t>
            </a:r>
          </a:p>
        </p:txBody>
      </p:sp>
      <p:sp>
        <p:nvSpPr>
          <p:cNvPr id="6" name="text-5">
            <a:extLst xmlns:a="http://schemas.openxmlformats.org/drawingml/2006/main">
              <a:ext uri="{FF2B5EF4-FFF2-40B4-BE49-F238E27FC236}">
                <a16:creationId xmlns:a16="http://schemas.microsoft.com/office/drawing/2014/main" id="{0849471D-5D8F-4CD9-BAA6-CA074B511863}"/>
              </a:ext>
            </a:extLst>
          </p:cNvPr>
          <p:cNvSpPr>
            <a:spLocks xmlns:a="http://schemas.openxmlformats.org/drawingml/2006/main" noGrp="1"/>
          </p:cNvSpPr>
          <p:nvPr/>
        </p:nvSpPr>
        <p:spPr>
          <a:xfrm xmlns:a="http://schemas.openxmlformats.org/drawingml/2006/main">
            <a:off x="762000" y="333375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56379F"/>
                </a:solidFill>
                <a:latin typeface="Tahoma"/>
                <a:ea typeface="Tahoma"/>
                <a:cs typeface="Tahoma"/>
              </a:defRPr>
            </a:defPPr>
          </a:lstStyle>
          <a:p xmlns:a="http://schemas.openxmlformats.org/drawingml/2006/main">
            <a:pPr algn="r" rtl="1">
              <a:defRPr sz="2250" b="1">
                <a:solidFill>
                  <a:srgbClr val="56379F"/>
                </a:solidFill>
                <a:latin typeface="Tahoma"/>
                <a:ea typeface="Tahoma"/>
                <a:cs typeface="Tahoma"/>
              </a:defRPr>
            </a:pPr>
            <a:r>
              <a:rPr sz="2250" b="1" lang="fa-IR">
                <a:solidFill>
                  <a:srgbClr val="56379F"/>
                </a:solidFill>
                <a:latin typeface="Tahoma"/>
                <a:ea typeface="Tahoma"/>
                <a:cs typeface="Tahoma"/>
              </a:rPr>
              <a:t>منابع قابل بررسی</a:t>
            </a:r>
          </a:p>
        </p:txBody>
      </p:sp>
      <p:sp>
        <p:nvSpPr>
          <p:cNvPr id="7" name="text-6">
            <a:extLst xmlns:a="http://schemas.openxmlformats.org/drawingml/2006/main">
              <a:ext uri="{FF2B5EF4-FFF2-40B4-BE49-F238E27FC236}">
                <a16:creationId xmlns:a16="http://schemas.microsoft.com/office/drawing/2014/main" id="{E466B708-C49B-4F2D-A87B-445480C8E8E7}"/>
              </a:ext>
            </a:extLst>
          </p:cNvPr>
          <p:cNvSpPr>
            <a:spLocks xmlns:a="http://schemas.openxmlformats.org/drawingml/2006/main" noGrp="1"/>
          </p:cNvSpPr>
          <p:nvPr/>
        </p:nvSpPr>
        <p:spPr>
          <a:xfrm xmlns:a="http://schemas.openxmlformats.org/drawingml/2006/main">
            <a:off x="762000" y="3952875"/>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11B32"/>
                </a:solidFill>
                <a:latin typeface="Tahoma"/>
                <a:ea typeface="Tahoma"/>
                <a:cs typeface="Tahoma"/>
              </a:defRPr>
            </a:defPPr>
          </a:lstStyle>
          <a:p xmlns:a="http://schemas.openxmlformats.org/drawingml/2006/main">
            <a:pPr algn="r" rtl="1">
              <a:defRPr sz="1875" b="0">
                <a:solidFill>
                  <a:srgbClr val="211B32"/>
                </a:solidFill>
                <a:latin typeface="Tahoma"/>
                <a:ea typeface="Tahoma"/>
                <a:cs typeface="Tahoma"/>
              </a:defRPr>
            </a:pPr>
            <a:r>
              <a:rPr sz="1875" b="0" lang="fa-IR">
                <a:solidFill>
                  <a:srgbClr val="211B32"/>
                </a:solidFill>
                <a:latin typeface="Tahoma"/>
                <a:ea typeface="Tahoma"/>
                <a:cs typeface="Tahoma"/>
              </a:rPr>
              <a:t>پاسخ همراه با منابع و وضعیت پشتوانهٔ آن نمایش داده می‌شود.</a:t>
            </a:r>
          </a:p>
        </p:txBody>
      </p:sp>
      <p:sp>
        <p:nvSpPr>
          <p:cNvPr id="8" name="text-7">
            <a:extLst xmlns:a="http://schemas.openxmlformats.org/drawingml/2006/main">
              <a:ext uri="{FF2B5EF4-FFF2-40B4-BE49-F238E27FC236}">
                <a16:creationId xmlns:a16="http://schemas.microsoft.com/office/drawing/2014/main" id="{9F32299D-8124-4F02-A362-90CB000D57F7}"/>
              </a:ext>
            </a:extLst>
          </p:cNvPr>
          <p:cNvSpPr>
            <a:spLocks xmlns:a="http://schemas.openxmlformats.org/drawingml/2006/main" noGrp="1"/>
          </p:cNvSpPr>
          <p:nvPr/>
        </p:nvSpPr>
        <p:spPr>
          <a:xfrm xmlns:a="http://schemas.openxmlformats.org/drawingml/2006/main">
            <a:off x="1047750" y="55149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655A78"/>
                </a:solidFill>
                <a:latin typeface="Tahoma"/>
                <a:ea typeface="Tahoma"/>
                <a:cs typeface="Tahoma"/>
              </a:defRPr>
            </a:defPPr>
          </a:lstStyle>
          <a:p xmlns:a="http://schemas.openxmlformats.org/drawingml/2006/main">
            <a:pPr algn="r" rtl="1">
              <a:defRPr sz="1875" b="0">
                <a:solidFill>
                  <a:srgbClr val="655A78"/>
                </a:solidFill>
                <a:latin typeface="Tahoma"/>
                <a:ea typeface="Tahoma"/>
                <a:cs typeface="Tahoma"/>
              </a:defRPr>
            </a:pPr>
            <a:r>
              <a:rPr sz="1875" b="0" lang="fa-IR">
                <a:solidFill>
                  <a:srgbClr val="655A78"/>
                </a:solidFill>
                <a:latin typeface="Tahoma"/>
                <a:ea typeface="Tahoma"/>
                <a:cs typeface="Tahoma"/>
              </a:rPr>
              <a:t>مدل زبانی با متن بازیابی‌شده کار می‌کند؛ آموزش مدل اختصاصی شرط این معماری نیست.</a:t>
            </a:r>
          </a:p>
        </p:txBody>
      </p:sp>
    </p:spTree>
    <p:extLst>
      <p:ext uri="{BB962C8B-B14F-4D97-AF65-F5344CB8AC3E}">
        <p14:creationId xmlns:p14="http://schemas.microsoft.com/office/powerpoint/2010/main" val="1986272104"/>
      </p:ext>
    </p:extLst>
  </p:cSld>
</p:sld>
</file>

<file path=ppt/slides/slide4.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3873CC0-C90B-4696-96CB-27F5037381AF}"/>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مسیر استفاده از محصول</a:t>
            </a:r>
          </a:p>
        </p:txBody>
      </p:sp>
      <p:sp>
        <p:nvSpPr>
          <p:cNvPr id="2" name="text-1">
            <a:extLst xmlns:a="http://schemas.openxmlformats.org/drawingml/2006/main">
              <a:ext uri="{FF2B5EF4-FFF2-40B4-BE49-F238E27FC236}">
                <a16:creationId xmlns:a16="http://schemas.microsoft.com/office/drawing/2014/main" id="{2114C914-A082-4260-A610-875E509D1AED}"/>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04</a:t>
            </a:r>
          </a:p>
        </p:txBody>
      </p:sp>
      <p:sp>
        <p:nvSpPr>
          <p:cNvPr id="3" name="text-2">
            <a:extLst xmlns:a="http://schemas.openxmlformats.org/drawingml/2006/main">
              <a:ext uri="{FF2B5EF4-FFF2-40B4-BE49-F238E27FC236}">
                <a16:creationId xmlns:a16="http://schemas.microsoft.com/office/drawing/2014/main" id="{69B80C52-4E76-43F9-A5A4-C43DEB07237D}"/>
              </a:ext>
            </a:extLst>
          </p:cNvPr>
          <p:cNvSpPr>
            <a:spLocks xmlns:a="http://schemas.openxmlformats.org/drawingml/2006/main" noGrp="1"/>
          </p:cNvSpPr>
          <p:nvPr/>
        </p:nvSpPr>
        <p:spPr>
          <a:xfrm xmlns:a="http://schemas.openxmlformats.org/drawingml/2006/main">
            <a:off x="9620250" y="2095500"/>
            <a:ext cx="185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800" b="1">
                <a:solidFill>
                  <a:srgbClr val="9B86E1"/>
                </a:solidFill>
                <a:latin typeface="Tahoma"/>
                <a:ea typeface="Tahoma"/>
                <a:cs typeface="Tahoma"/>
              </a:defRPr>
            </a:defPPr>
          </a:lstStyle>
          <a:p xmlns:a="http://schemas.openxmlformats.org/drawingml/2006/main">
            <a:pPr algn="r" rtl="1">
              <a:defRPr sz="4800" b="1">
                <a:solidFill>
                  <a:srgbClr val="9B86E1"/>
                </a:solidFill>
                <a:latin typeface="Tahoma"/>
                <a:ea typeface="Tahoma"/>
                <a:cs typeface="Tahoma"/>
              </a:defRPr>
            </a:pPr>
            <a:r>
              <a:rPr sz="4800" b="1" lang="fa-IR">
                <a:solidFill>
                  <a:srgbClr val="9B86E1"/>
                </a:solidFill>
                <a:latin typeface="Tahoma"/>
                <a:ea typeface="Tahoma"/>
                <a:cs typeface="Tahoma"/>
              </a:rPr>
              <a:t>۱</a:t>
            </a:r>
          </a:p>
        </p:txBody>
      </p:sp>
      <p:sp>
        <p:nvSpPr>
          <p:cNvPr id="4" name="text-3">
            <a:extLst xmlns:a="http://schemas.openxmlformats.org/drawingml/2006/main">
              <a:ext uri="{FF2B5EF4-FFF2-40B4-BE49-F238E27FC236}">
                <a16:creationId xmlns:a16="http://schemas.microsoft.com/office/drawing/2014/main" id="{F9C92BAB-ED9C-4C5A-915B-C17709EC9CF8}"/>
              </a:ext>
            </a:extLst>
          </p:cNvPr>
          <p:cNvSpPr>
            <a:spLocks xmlns:a="http://schemas.openxmlformats.org/drawingml/2006/main" noGrp="1"/>
          </p:cNvSpPr>
          <p:nvPr/>
        </p:nvSpPr>
        <p:spPr>
          <a:xfrm xmlns:a="http://schemas.openxmlformats.org/drawingml/2006/main">
            <a:off x="9620250" y="3267075"/>
            <a:ext cx="185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1">
                <a:solidFill>
                  <a:srgbClr val="FAF9FD"/>
                </a:solidFill>
                <a:latin typeface="Tahoma"/>
                <a:ea typeface="Tahoma"/>
                <a:cs typeface="Tahoma"/>
              </a:defRPr>
            </a:defPPr>
          </a:lstStyle>
          <a:p xmlns:a="http://schemas.openxmlformats.org/drawingml/2006/main">
            <a:pPr algn="r" rtl="1">
              <a:defRPr sz="2025" b="1">
                <a:solidFill>
                  <a:srgbClr val="FAF9FD"/>
                </a:solidFill>
                <a:latin typeface="Tahoma"/>
                <a:ea typeface="Tahoma"/>
                <a:cs typeface="Tahoma"/>
              </a:defRPr>
            </a:pPr>
            <a:r>
              <a:rPr sz="2025" b="1" lang="fa-IR">
                <a:solidFill>
                  <a:srgbClr val="FAF9FD"/>
                </a:solidFill>
                <a:latin typeface="Tahoma"/>
                <a:ea typeface="Tahoma"/>
                <a:cs typeface="Tahoma"/>
              </a:rPr>
              <a:t>ساخت مجموعه</a:t>
            </a:r>
          </a:p>
        </p:txBody>
      </p:sp>
      <p:sp>
        <p:nvSpPr>
          <p:cNvPr id="5" name="text-4">
            <a:extLst xmlns:a="http://schemas.openxmlformats.org/drawingml/2006/main">
              <a:ext uri="{FF2B5EF4-FFF2-40B4-BE49-F238E27FC236}">
                <a16:creationId xmlns:a16="http://schemas.microsoft.com/office/drawing/2014/main" id="{6A21D887-8E93-4BDF-8C66-6B9B6BACB578}"/>
              </a:ext>
            </a:extLst>
          </p:cNvPr>
          <p:cNvSpPr>
            <a:spLocks xmlns:a="http://schemas.openxmlformats.org/drawingml/2006/main" noGrp="1"/>
          </p:cNvSpPr>
          <p:nvPr/>
        </p:nvSpPr>
        <p:spPr>
          <a:xfrm xmlns:a="http://schemas.openxmlformats.org/drawingml/2006/main">
            <a:off x="9620250" y="4057650"/>
            <a:ext cx="1857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B8B0CC"/>
                </a:solidFill>
                <a:latin typeface="Tahoma"/>
                <a:ea typeface="Tahoma"/>
                <a:cs typeface="Tahoma"/>
              </a:defRPr>
            </a:defPPr>
          </a:lstStyle>
          <a:p xmlns:a="http://schemas.openxmlformats.org/drawingml/2006/main">
            <a:pPr algn="r" rtl="1">
              <a:defRPr sz="1725" b="0">
                <a:solidFill>
                  <a:srgbClr val="B8B0CC"/>
                </a:solidFill>
                <a:latin typeface="Tahoma"/>
                <a:ea typeface="Tahoma"/>
                <a:cs typeface="Tahoma"/>
              </a:defRPr>
            </a:pPr>
            <a:r>
              <a:rPr sz="1725" b="0" lang="fa-IR">
                <a:solidFill>
                  <a:srgbClr val="B8B0CC"/>
                </a:solidFill>
                <a:latin typeface="Tahoma"/>
                <a:ea typeface="Tahoma"/>
                <a:cs typeface="Tahoma"/>
              </a:rPr>
              <a:t>تعریف محدودهٔ دانش</a:t>
            </a:r>
          </a:p>
        </p:txBody>
      </p:sp>
      <p:sp>
        <p:nvSpPr>
          <p:cNvPr id="6" name="text-5">
            <a:extLst xmlns:a="http://schemas.openxmlformats.org/drawingml/2006/main">
              <a:ext uri="{FF2B5EF4-FFF2-40B4-BE49-F238E27FC236}">
                <a16:creationId xmlns:a16="http://schemas.microsoft.com/office/drawing/2014/main" id="{02B198C1-EC58-4328-BF62-92003626EA1A}"/>
              </a:ext>
            </a:extLst>
          </p:cNvPr>
          <p:cNvSpPr>
            <a:spLocks xmlns:a="http://schemas.openxmlformats.org/drawingml/2006/main" noGrp="1"/>
          </p:cNvSpPr>
          <p:nvPr/>
        </p:nvSpPr>
        <p:spPr>
          <a:xfrm xmlns:a="http://schemas.openxmlformats.org/drawingml/2006/main">
            <a:off x="7381875" y="2095500"/>
            <a:ext cx="185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800" b="1">
                <a:solidFill>
                  <a:srgbClr val="9B86E1"/>
                </a:solidFill>
                <a:latin typeface="Tahoma"/>
                <a:ea typeface="Tahoma"/>
                <a:cs typeface="Tahoma"/>
              </a:defRPr>
            </a:defPPr>
          </a:lstStyle>
          <a:p xmlns:a="http://schemas.openxmlformats.org/drawingml/2006/main">
            <a:pPr algn="r" rtl="1">
              <a:defRPr sz="4800" b="1">
                <a:solidFill>
                  <a:srgbClr val="9B86E1"/>
                </a:solidFill>
                <a:latin typeface="Tahoma"/>
                <a:ea typeface="Tahoma"/>
                <a:cs typeface="Tahoma"/>
              </a:defRPr>
            </a:pPr>
            <a:r>
              <a:rPr sz="4800" b="1" lang="fa-IR">
                <a:solidFill>
                  <a:srgbClr val="9B86E1"/>
                </a:solidFill>
                <a:latin typeface="Tahoma"/>
                <a:ea typeface="Tahoma"/>
                <a:cs typeface="Tahoma"/>
              </a:rPr>
              <a:t>۲</a:t>
            </a:r>
          </a:p>
        </p:txBody>
      </p:sp>
      <p:sp>
        <p:nvSpPr>
          <p:cNvPr id="7" name="text-6">
            <a:extLst xmlns:a="http://schemas.openxmlformats.org/drawingml/2006/main">
              <a:ext uri="{FF2B5EF4-FFF2-40B4-BE49-F238E27FC236}">
                <a16:creationId xmlns:a16="http://schemas.microsoft.com/office/drawing/2014/main" id="{CE0291FF-719E-4C1C-93BA-314B665639FA}"/>
              </a:ext>
            </a:extLst>
          </p:cNvPr>
          <p:cNvSpPr>
            <a:spLocks xmlns:a="http://schemas.openxmlformats.org/drawingml/2006/main" noGrp="1"/>
          </p:cNvSpPr>
          <p:nvPr/>
        </p:nvSpPr>
        <p:spPr>
          <a:xfrm xmlns:a="http://schemas.openxmlformats.org/drawingml/2006/main">
            <a:off x="7381875" y="3267075"/>
            <a:ext cx="185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1">
                <a:solidFill>
                  <a:srgbClr val="FAF9FD"/>
                </a:solidFill>
                <a:latin typeface="Tahoma"/>
                <a:ea typeface="Tahoma"/>
                <a:cs typeface="Tahoma"/>
              </a:defRPr>
            </a:defPPr>
          </a:lstStyle>
          <a:p xmlns:a="http://schemas.openxmlformats.org/drawingml/2006/main">
            <a:pPr algn="r" rtl="1">
              <a:defRPr sz="2025" b="1">
                <a:solidFill>
                  <a:srgbClr val="FAF9FD"/>
                </a:solidFill>
                <a:latin typeface="Tahoma"/>
                <a:ea typeface="Tahoma"/>
                <a:cs typeface="Tahoma"/>
              </a:defRPr>
            </a:pPr>
            <a:r>
              <a:rPr sz="2025" b="1" lang="fa-IR">
                <a:solidFill>
                  <a:srgbClr val="FAF9FD"/>
                </a:solidFill>
                <a:latin typeface="Tahoma"/>
                <a:ea typeface="Tahoma"/>
                <a:cs typeface="Tahoma"/>
              </a:rPr>
              <a:t>افزودن محتوا</a:t>
            </a:r>
          </a:p>
        </p:txBody>
      </p:sp>
      <p:sp>
        <p:nvSpPr>
          <p:cNvPr id="8" name="text-7">
            <a:extLst xmlns:a="http://schemas.openxmlformats.org/drawingml/2006/main">
              <a:ext uri="{FF2B5EF4-FFF2-40B4-BE49-F238E27FC236}">
                <a16:creationId xmlns:a16="http://schemas.microsoft.com/office/drawing/2014/main" id="{9F99460F-5F5D-4B2A-8C7C-4A32614ACB18}"/>
              </a:ext>
            </a:extLst>
          </p:cNvPr>
          <p:cNvSpPr>
            <a:spLocks xmlns:a="http://schemas.openxmlformats.org/drawingml/2006/main" noGrp="1"/>
          </p:cNvSpPr>
          <p:nvPr/>
        </p:nvSpPr>
        <p:spPr>
          <a:xfrm xmlns:a="http://schemas.openxmlformats.org/drawingml/2006/main">
            <a:off x="7381875" y="4057650"/>
            <a:ext cx="1857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B8B0CC"/>
                </a:solidFill>
                <a:latin typeface="Tahoma"/>
                <a:ea typeface="Tahoma"/>
                <a:cs typeface="Tahoma"/>
              </a:defRPr>
            </a:defPPr>
          </a:lstStyle>
          <a:p xmlns:a="http://schemas.openxmlformats.org/drawingml/2006/main">
            <a:pPr algn="r" rtl="1">
              <a:defRPr sz="1725" b="0">
                <a:solidFill>
                  <a:srgbClr val="B8B0CC"/>
                </a:solidFill>
                <a:latin typeface="Tahoma"/>
                <a:ea typeface="Tahoma"/>
                <a:cs typeface="Tahoma"/>
              </a:defRPr>
            </a:pPr>
            <a:r>
              <a:rPr sz="1725" b="0" lang="fa-IR">
                <a:solidFill>
                  <a:srgbClr val="B8B0CC"/>
                </a:solidFill>
                <a:latin typeface="Tahoma"/>
                <a:ea typeface="Tahoma"/>
                <a:cs typeface="Tahoma"/>
              </a:rPr>
              <a:t>فایل یا منبع متصل</a:t>
            </a:r>
          </a:p>
        </p:txBody>
      </p:sp>
      <p:sp>
        <p:nvSpPr>
          <p:cNvPr id="9" name="text-8">
            <a:extLst xmlns:a="http://schemas.openxmlformats.org/drawingml/2006/main">
              <a:ext uri="{FF2B5EF4-FFF2-40B4-BE49-F238E27FC236}">
                <a16:creationId xmlns:a16="http://schemas.microsoft.com/office/drawing/2014/main" id="{B1E4E53A-2BEF-4C18-B41E-F8EEBED47A7E}"/>
              </a:ext>
            </a:extLst>
          </p:cNvPr>
          <p:cNvSpPr>
            <a:spLocks xmlns:a="http://schemas.openxmlformats.org/drawingml/2006/main" noGrp="1"/>
          </p:cNvSpPr>
          <p:nvPr/>
        </p:nvSpPr>
        <p:spPr>
          <a:xfrm xmlns:a="http://schemas.openxmlformats.org/drawingml/2006/main">
            <a:off x="5143500" y="2095500"/>
            <a:ext cx="185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800" b="1">
                <a:solidFill>
                  <a:srgbClr val="9B86E1"/>
                </a:solidFill>
                <a:latin typeface="Tahoma"/>
                <a:ea typeface="Tahoma"/>
                <a:cs typeface="Tahoma"/>
              </a:defRPr>
            </a:defPPr>
          </a:lstStyle>
          <a:p xmlns:a="http://schemas.openxmlformats.org/drawingml/2006/main">
            <a:pPr algn="r" rtl="1">
              <a:defRPr sz="4800" b="1">
                <a:solidFill>
                  <a:srgbClr val="9B86E1"/>
                </a:solidFill>
                <a:latin typeface="Tahoma"/>
                <a:ea typeface="Tahoma"/>
                <a:cs typeface="Tahoma"/>
              </a:defRPr>
            </a:pPr>
            <a:r>
              <a:rPr sz="4800" b="1" lang="fa-IR">
                <a:solidFill>
                  <a:srgbClr val="9B86E1"/>
                </a:solidFill>
                <a:latin typeface="Tahoma"/>
                <a:ea typeface="Tahoma"/>
                <a:cs typeface="Tahoma"/>
              </a:rPr>
              <a:t>۳</a:t>
            </a:r>
          </a:p>
        </p:txBody>
      </p:sp>
      <p:sp>
        <p:nvSpPr>
          <p:cNvPr id="10" name="text-9">
            <a:extLst xmlns:a="http://schemas.openxmlformats.org/drawingml/2006/main">
              <a:ext uri="{FF2B5EF4-FFF2-40B4-BE49-F238E27FC236}">
                <a16:creationId xmlns:a16="http://schemas.microsoft.com/office/drawing/2014/main" id="{08084919-DFB0-4634-A3E3-1757BE5A39CA}"/>
              </a:ext>
            </a:extLst>
          </p:cNvPr>
          <p:cNvSpPr>
            <a:spLocks xmlns:a="http://schemas.openxmlformats.org/drawingml/2006/main" noGrp="1"/>
          </p:cNvSpPr>
          <p:nvPr/>
        </p:nvSpPr>
        <p:spPr>
          <a:xfrm xmlns:a="http://schemas.openxmlformats.org/drawingml/2006/main">
            <a:off x="5143500" y="3267075"/>
            <a:ext cx="185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1">
                <a:solidFill>
                  <a:srgbClr val="FAF9FD"/>
                </a:solidFill>
                <a:latin typeface="Tahoma"/>
                <a:ea typeface="Tahoma"/>
                <a:cs typeface="Tahoma"/>
              </a:defRPr>
            </a:defPPr>
          </a:lstStyle>
          <a:p xmlns:a="http://schemas.openxmlformats.org/drawingml/2006/main">
            <a:pPr algn="r" rtl="1">
              <a:defRPr sz="2025" b="1">
                <a:solidFill>
                  <a:srgbClr val="FAF9FD"/>
                </a:solidFill>
                <a:latin typeface="Tahoma"/>
                <a:ea typeface="Tahoma"/>
                <a:cs typeface="Tahoma"/>
              </a:defRPr>
            </a:pPr>
            <a:r>
              <a:rPr sz="2025" b="1" lang="fa-IR">
                <a:solidFill>
                  <a:srgbClr val="FAF9FD"/>
                </a:solidFill>
                <a:latin typeface="Tahoma"/>
                <a:ea typeface="Tahoma"/>
                <a:cs typeface="Tahoma"/>
              </a:rPr>
              <a:t>پردازش سند</a:t>
            </a:r>
          </a:p>
        </p:txBody>
      </p:sp>
      <p:sp>
        <p:nvSpPr>
          <p:cNvPr id="11" name="text-10">
            <a:extLst xmlns:a="http://schemas.openxmlformats.org/drawingml/2006/main">
              <a:ext uri="{FF2B5EF4-FFF2-40B4-BE49-F238E27FC236}">
                <a16:creationId xmlns:a16="http://schemas.microsoft.com/office/drawing/2014/main" id="{0CA2A65E-3CED-44EB-A129-3E6F37658B27}"/>
              </a:ext>
            </a:extLst>
          </p:cNvPr>
          <p:cNvSpPr>
            <a:spLocks xmlns:a="http://schemas.openxmlformats.org/drawingml/2006/main" noGrp="1"/>
          </p:cNvSpPr>
          <p:nvPr/>
        </p:nvSpPr>
        <p:spPr>
          <a:xfrm xmlns:a="http://schemas.openxmlformats.org/drawingml/2006/main">
            <a:off x="5143500" y="4057650"/>
            <a:ext cx="1857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B8B0CC"/>
                </a:solidFill>
                <a:latin typeface="Tahoma"/>
                <a:ea typeface="Tahoma"/>
                <a:cs typeface="Tahoma"/>
              </a:defRPr>
            </a:defPPr>
          </a:lstStyle>
          <a:p xmlns:a="http://schemas.openxmlformats.org/drawingml/2006/main">
            <a:pPr algn="r" rtl="1">
              <a:defRPr sz="1725" b="0">
                <a:solidFill>
                  <a:srgbClr val="B8B0CC"/>
                </a:solidFill>
                <a:latin typeface="Tahoma"/>
                <a:ea typeface="Tahoma"/>
                <a:cs typeface="Tahoma"/>
              </a:defRPr>
            </a:pPr>
            <a:r>
              <a:rPr sz="1725" b="0" lang="fa-IR">
                <a:solidFill>
                  <a:srgbClr val="B8B0CC"/>
                </a:solidFill>
                <a:latin typeface="Tahoma"/>
                <a:ea typeface="Tahoma"/>
                <a:cs typeface="Tahoma"/>
              </a:rPr>
              <a:t>استخراج و ایندکس</a:t>
            </a:r>
          </a:p>
        </p:txBody>
      </p:sp>
      <p:sp>
        <p:nvSpPr>
          <p:cNvPr id="12" name="text-11">
            <a:extLst xmlns:a="http://schemas.openxmlformats.org/drawingml/2006/main">
              <a:ext uri="{FF2B5EF4-FFF2-40B4-BE49-F238E27FC236}">
                <a16:creationId xmlns:a16="http://schemas.microsoft.com/office/drawing/2014/main" id="{3E0F56DC-2558-473E-B738-15EC37165FA8}"/>
              </a:ext>
            </a:extLst>
          </p:cNvPr>
          <p:cNvSpPr>
            <a:spLocks xmlns:a="http://schemas.openxmlformats.org/drawingml/2006/main" noGrp="1"/>
          </p:cNvSpPr>
          <p:nvPr/>
        </p:nvSpPr>
        <p:spPr>
          <a:xfrm xmlns:a="http://schemas.openxmlformats.org/drawingml/2006/main">
            <a:off x="2905125" y="2095500"/>
            <a:ext cx="185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800" b="1">
                <a:solidFill>
                  <a:srgbClr val="9B86E1"/>
                </a:solidFill>
                <a:latin typeface="Tahoma"/>
                <a:ea typeface="Tahoma"/>
                <a:cs typeface="Tahoma"/>
              </a:defRPr>
            </a:defPPr>
          </a:lstStyle>
          <a:p xmlns:a="http://schemas.openxmlformats.org/drawingml/2006/main">
            <a:pPr algn="r" rtl="1">
              <a:defRPr sz="4800" b="1">
                <a:solidFill>
                  <a:srgbClr val="9B86E1"/>
                </a:solidFill>
                <a:latin typeface="Tahoma"/>
                <a:ea typeface="Tahoma"/>
                <a:cs typeface="Tahoma"/>
              </a:defRPr>
            </a:pPr>
            <a:r>
              <a:rPr sz="4800" b="1" lang="fa-IR">
                <a:solidFill>
                  <a:srgbClr val="9B86E1"/>
                </a:solidFill>
                <a:latin typeface="Tahoma"/>
                <a:ea typeface="Tahoma"/>
                <a:cs typeface="Tahoma"/>
              </a:rPr>
              <a:t>۴</a:t>
            </a:r>
          </a:p>
        </p:txBody>
      </p:sp>
      <p:sp>
        <p:nvSpPr>
          <p:cNvPr id="13" name="text-12">
            <a:extLst xmlns:a="http://schemas.openxmlformats.org/drawingml/2006/main">
              <a:ext uri="{FF2B5EF4-FFF2-40B4-BE49-F238E27FC236}">
                <a16:creationId xmlns:a16="http://schemas.microsoft.com/office/drawing/2014/main" id="{42FC3A8A-7578-40E2-8E63-D9A8698E217E}"/>
              </a:ext>
            </a:extLst>
          </p:cNvPr>
          <p:cNvSpPr>
            <a:spLocks xmlns:a="http://schemas.openxmlformats.org/drawingml/2006/main" noGrp="1"/>
          </p:cNvSpPr>
          <p:nvPr/>
        </p:nvSpPr>
        <p:spPr>
          <a:xfrm xmlns:a="http://schemas.openxmlformats.org/drawingml/2006/main">
            <a:off x="2905125" y="3267075"/>
            <a:ext cx="185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1">
                <a:solidFill>
                  <a:srgbClr val="FAF9FD"/>
                </a:solidFill>
                <a:latin typeface="Tahoma"/>
                <a:ea typeface="Tahoma"/>
                <a:cs typeface="Tahoma"/>
              </a:defRPr>
            </a:defPPr>
          </a:lstStyle>
          <a:p xmlns:a="http://schemas.openxmlformats.org/drawingml/2006/main">
            <a:pPr algn="r" rtl="1">
              <a:defRPr sz="2025" b="1">
                <a:solidFill>
                  <a:srgbClr val="FAF9FD"/>
                </a:solidFill>
                <a:latin typeface="Tahoma"/>
                <a:ea typeface="Tahoma"/>
                <a:cs typeface="Tahoma"/>
              </a:defRPr>
            </a:pPr>
            <a:r>
              <a:rPr sz="2025" b="1" lang="fa-IR">
                <a:solidFill>
                  <a:srgbClr val="FAF9FD"/>
                </a:solidFill>
                <a:latin typeface="Tahoma"/>
                <a:ea typeface="Tahoma"/>
                <a:cs typeface="Tahoma"/>
              </a:rPr>
              <a:t>طرح سؤال</a:t>
            </a:r>
          </a:p>
        </p:txBody>
      </p:sp>
      <p:sp>
        <p:nvSpPr>
          <p:cNvPr id="14" name="text-13">
            <a:extLst xmlns:a="http://schemas.openxmlformats.org/drawingml/2006/main">
              <a:ext uri="{FF2B5EF4-FFF2-40B4-BE49-F238E27FC236}">
                <a16:creationId xmlns:a16="http://schemas.microsoft.com/office/drawing/2014/main" id="{F83424C4-9E30-4E92-83AE-535150E7F3EC}"/>
              </a:ext>
            </a:extLst>
          </p:cNvPr>
          <p:cNvSpPr>
            <a:spLocks xmlns:a="http://schemas.openxmlformats.org/drawingml/2006/main" noGrp="1"/>
          </p:cNvSpPr>
          <p:nvPr/>
        </p:nvSpPr>
        <p:spPr>
          <a:xfrm xmlns:a="http://schemas.openxmlformats.org/drawingml/2006/main">
            <a:off x="2905125" y="4057650"/>
            <a:ext cx="1857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B8B0CC"/>
                </a:solidFill>
                <a:latin typeface="Tahoma"/>
                <a:ea typeface="Tahoma"/>
                <a:cs typeface="Tahoma"/>
              </a:defRPr>
            </a:defPPr>
          </a:lstStyle>
          <a:p xmlns:a="http://schemas.openxmlformats.org/drawingml/2006/main">
            <a:pPr algn="r" rtl="1">
              <a:defRPr sz="1725" b="0">
                <a:solidFill>
                  <a:srgbClr val="B8B0CC"/>
                </a:solidFill>
                <a:latin typeface="Tahoma"/>
                <a:ea typeface="Tahoma"/>
                <a:cs typeface="Tahoma"/>
              </a:defRPr>
            </a:pPr>
            <a:r>
              <a:rPr sz="1725" b="0" lang="fa-IR">
                <a:solidFill>
                  <a:srgbClr val="B8B0CC"/>
                </a:solidFill>
                <a:latin typeface="Tahoma"/>
                <a:ea typeface="Tahoma"/>
                <a:cs typeface="Tahoma"/>
              </a:rPr>
              <a:t>انتخاب دانش مجاز</a:t>
            </a:r>
          </a:p>
        </p:txBody>
      </p:sp>
      <p:sp>
        <p:nvSpPr>
          <p:cNvPr id="15" name="text-14">
            <a:extLst xmlns:a="http://schemas.openxmlformats.org/drawingml/2006/main">
              <a:ext uri="{FF2B5EF4-FFF2-40B4-BE49-F238E27FC236}">
                <a16:creationId xmlns:a16="http://schemas.microsoft.com/office/drawing/2014/main" id="{16457D28-15C5-45E4-B004-E28CDD6C815D}"/>
              </a:ext>
            </a:extLst>
          </p:cNvPr>
          <p:cNvSpPr>
            <a:spLocks xmlns:a="http://schemas.openxmlformats.org/drawingml/2006/main" noGrp="1"/>
          </p:cNvSpPr>
          <p:nvPr/>
        </p:nvSpPr>
        <p:spPr>
          <a:xfrm xmlns:a="http://schemas.openxmlformats.org/drawingml/2006/main">
            <a:off x="666750" y="2095500"/>
            <a:ext cx="1857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800" b="1">
                <a:solidFill>
                  <a:srgbClr val="9B86E1"/>
                </a:solidFill>
                <a:latin typeface="Tahoma"/>
                <a:ea typeface="Tahoma"/>
                <a:cs typeface="Tahoma"/>
              </a:defRPr>
            </a:defPPr>
          </a:lstStyle>
          <a:p xmlns:a="http://schemas.openxmlformats.org/drawingml/2006/main">
            <a:pPr algn="r" rtl="1">
              <a:defRPr sz="4800" b="1">
                <a:solidFill>
                  <a:srgbClr val="9B86E1"/>
                </a:solidFill>
                <a:latin typeface="Tahoma"/>
                <a:ea typeface="Tahoma"/>
                <a:cs typeface="Tahoma"/>
              </a:defRPr>
            </a:pPr>
            <a:r>
              <a:rPr sz="4800" b="1" lang="fa-IR">
                <a:solidFill>
                  <a:srgbClr val="9B86E1"/>
                </a:solidFill>
                <a:latin typeface="Tahoma"/>
                <a:ea typeface="Tahoma"/>
                <a:cs typeface="Tahoma"/>
              </a:rPr>
              <a:t>۵</a:t>
            </a:r>
          </a:p>
        </p:txBody>
      </p:sp>
      <p:sp>
        <p:nvSpPr>
          <p:cNvPr id="16" name="text-15">
            <a:extLst xmlns:a="http://schemas.openxmlformats.org/drawingml/2006/main">
              <a:ext uri="{FF2B5EF4-FFF2-40B4-BE49-F238E27FC236}">
                <a16:creationId xmlns:a16="http://schemas.microsoft.com/office/drawing/2014/main" id="{A3555742-A270-49B3-AF3F-81884991D686}"/>
              </a:ext>
            </a:extLst>
          </p:cNvPr>
          <p:cNvSpPr>
            <a:spLocks xmlns:a="http://schemas.openxmlformats.org/drawingml/2006/main" noGrp="1"/>
          </p:cNvSpPr>
          <p:nvPr/>
        </p:nvSpPr>
        <p:spPr>
          <a:xfrm xmlns:a="http://schemas.openxmlformats.org/drawingml/2006/main">
            <a:off x="666750" y="3267075"/>
            <a:ext cx="185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1">
                <a:solidFill>
                  <a:srgbClr val="FAF9FD"/>
                </a:solidFill>
                <a:latin typeface="Tahoma"/>
                <a:ea typeface="Tahoma"/>
                <a:cs typeface="Tahoma"/>
              </a:defRPr>
            </a:defPPr>
          </a:lstStyle>
          <a:p xmlns:a="http://schemas.openxmlformats.org/drawingml/2006/main">
            <a:pPr algn="r" rtl="1">
              <a:defRPr sz="2025" b="1">
                <a:solidFill>
                  <a:srgbClr val="FAF9FD"/>
                </a:solidFill>
                <a:latin typeface="Tahoma"/>
                <a:ea typeface="Tahoma"/>
                <a:cs typeface="Tahoma"/>
              </a:defRPr>
            </a:pPr>
            <a:r>
              <a:rPr sz="2025" b="1" lang="fa-IR">
                <a:solidFill>
                  <a:srgbClr val="FAF9FD"/>
                </a:solidFill>
                <a:latin typeface="Tahoma"/>
                <a:ea typeface="Tahoma"/>
                <a:cs typeface="Tahoma"/>
              </a:rPr>
              <a:t>بررسی پاسخ</a:t>
            </a:r>
          </a:p>
        </p:txBody>
      </p:sp>
      <p:sp>
        <p:nvSpPr>
          <p:cNvPr id="17" name="text-16">
            <a:extLst xmlns:a="http://schemas.openxmlformats.org/drawingml/2006/main">
              <a:ext uri="{FF2B5EF4-FFF2-40B4-BE49-F238E27FC236}">
                <a16:creationId xmlns:a16="http://schemas.microsoft.com/office/drawing/2014/main" id="{2FC2DD8F-1D79-44F2-A4BF-AA56278C4FB6}"/>
              </a:ext>
            </a:extLst>
          </p:cNvPr>
          <p:cNvSpPr>
            <a:spLocks xmlns:a="http://schemas.openxmlformats.org/drawingml/2006/main" noGrp="1"/>
          </p:cNvSpPr>
          <p:nvPr/>
        </p:nvSpPr>
        <p:spPr>
          <a:xfrm xmlns:a="http://schemas.openxmlformats.org/drawingml/2006/main">
            <a:off x="666750" y="4057650"/>
            <a:ext cx="1857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B8B0CC"/>
                </a:solidFill>
                <a:latin typeface="Tahoma"/>
                <a:ea typeface="Tahoma"/>
                <a:cs typeface="Tahoma"/>
              </a:defRPr>
            </a:defPPr>
          </a:lstStyle>
          <a:p xmlns:a="http://schemas.openxmlformats.org/drawingml/2006/main">
            <a:pPr algn="r" rtl="1">
              <a:defRPr sz="1725" b="0">
                <a:solidFill>
                  <a:srgbClr val="B8B0CC"/>
                </a:solidFill>
                <a:latin typeface="Tahoma"/>
                <a:ea typeface="Tahoma"/>
                <a:cs typeface="Tahoma"/>
              </a:defRPr>
            </a:pPr>
            <a:r>
              <a:rPr sz="1725" b="0" lang="fa-IR">
                <a:solidFill>
                  <a:srgbClr val="B8B0CC"/>
                </a:solidFill>
                <a:latin typeface="Tahoma"/>
                <a:ea typeface="Tahoma"/>
                <a:cs typeface="Tahoma"/>
              </a:rPr>
              <a:t>مطالعهٔ منابع</a:t>
            </a:r>
          </a:p>
        </p:txBody>
      </p:sp>
      <p:sp>
        <p:nvSpPr>
          <p:cNvPr id="18" name="text-17">
            <a:extLst xmlns:a="http://schemas.openxmlformats.org/drawingml/2006/main">
              <a:ext uri="{FF2B5EF4-FFF2-40B4-BE49-F238E27FC236}">
                <a16:creationId xmlns:a16="http://schemas.microsoft.com/office/drawing/2014/main" id="{F2AB3C06-1F55-467C-8873-F757E193AE2F}"/>
              </a:ext>
            </a:extLst>
          </p:cNvPr>
          <p:cNvSpPr>
            <a:spLocks xmlns:a="http://schemas.openxmlformats.org/drawingml/2006/main" noGrp="1"/>
          </p:cNvSpPr>
          <p:nvPr/>
        </p:nvSpPr>
        <p:spPr>
          <a:xfrm xmlns:a="http://schemas.openxmlformats.org/drawingml/2006/main">
            <a:off x="1905000" y="5514975"/>
            <a:ext cx="9572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0">
                <a:solidFill>
                  <a:srgbClr val="FAF9FD"/>
                </a:solidFill>
                <a:latin typeface="Tahoma"/>
                <a:ea typeface="Tahoma"/>
                <a:cs typeface="Tahoma"/>
              </a:defRPr>
            </a:defPPr>
          </a:lstStyle>
          <a:p xmlns:a="http://schemas.openxmlformats.org/drawingml/2006/main">
            <a:pPr algn="r" rtl="1">
              <a:defRPr sz="2025" b="0">
                <a:solidFill>
                  <a:srgbClr val="FAF9FD"/>
                </a:solidFill>
                <a:latin typeface="Tahoma"/>
                <a:ea typeface="Tahoma"/>
                <a:cs typeface="Tahoma"/>
              </a:defRPr>
            </a:pPr>
            <a:r>
              <a:rPr sz="2025" b="0" lang="fa-IR">
                <a:solidFill>
                  <a:srgbClr val="FAF9FD"/>
                </a:solidFill>
                <a:latin typeface="Tahoma"/>
                <a:ea typeface="Tahoma"/>
                <a:cs typeface="Tahoma"/>
              </a:rPr>
              <a:t>گفتگو و منابع پاسخ در تاریخچه نگهداری می‌شوند.</a:t>
            </a:r>
          </a:p>
        </p:txBody>
      </p:sp>
    </p:spTree>
    <p:extLst>
      <p:ext uri="{BB962C8B-B14F-4D97-AF65-F5344CB8AC3E}">
        <p14:creationId xmlns:p14="http://schemas.microsoft.com/office/powerpoint/2010/main" val="774240318"/>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C5B6F7F-28C3-49CF-A438-E463EAB85721}"/>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211B32"/>
                </a:solidFill>
                <a:latin typeface="Tahoma"/>
                <a:ea typeface="Tahoma"/>
                <a:cs typeface="Tahoma"/>
              </a:defRPr>
            </a:defPPr>
          </a:lstStyle>
          <a:p xmlns:a="http://schemas.openxmlformats.org/drawingml/2006/main">
            <a:pPr algn="r" rtl="1">
              <a:defRPr sz="3300" b="1">
                <a:solidFill>
                  <a:srgbClr val="211B32"/>
                </a:solidFill>
                <a:latin typeface="Tahoma"/>
                <a:ea typeface="Tahoma"/>
                <a:cs typeface="Tahoma"/>
              </a:defRPr>
            </a:pPr>
            <a:r>
              <a:rPr sz="3300" b="1" lang="fa-IR">
                <a:solidFill>
                  <a:srgbClr val="211B32"/>
                </a:solidFill>
                <a:latin typeface="Tahoma"/>
                <a:ea typeface="Tahoma"/>
                <a:cs typeface="Tahoma"/>
              </a:rPr>
              <a:t>معماری سامانه</a:t>
            </a:r>
          </a:p>
        </p:txBody>
      </p:sp>
      <p:sp>
        <p:nvSpPr>
          <p:cNvPr id="2" name="text-1">
            <a:extLst xmlns:a="http://schemas.openxmlformats.org/drawingml/2006/main">
              <a:ext uri="{FF2B5EF4-FFF2-40B4-BE49-F238E27FC236}">
                <a16:creationId xmlns:a16="http://schemas.microsoft.com/office/drawing/2014/main" id="{21D30A62-D091-4CC9-BC21-E2926BC3A4D7}"/>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777084"/>
                </a:solidFill>
                <a:latin typeface="Tahoma"/>
                <a:ea typeface="Tahoma"/>
                <a:cs typeface="Tahoma"/>
              </a:defRPr>
            </a:defPPr>
          </a:lstStyle>
          <a:p xmlns:a="http://schemas.openxmlformats.org/drawingml/2006/main">
            <a:pPr algn="l" rtl="1">
              <a:defRPr sz="1275" b="0">
                <a:solidFill>
                  <a:srgbClr val="777084"/>
                </a:solidFill>
                <a:latin typeface="Tahoma"/>
                <a:ea typeface="Tahoma"/>
                <a:cs typeface="Tahoma"/>
              </a:defRPr>
            </a:pPr>
            <a:r>
              <a:rPr sz="1275" b="0" lang="fa-IR">
                <a:solidFill>
                  <a:srgbClr val="777084"/>
                </a:solidFill>
                <a:latin typeface="Tahoma"/>
                <a:ea typeface="Tahoma"/>
                <a:cs typeface="Tahoma"/>
              </a:rPr>
              <a:t>05</a:t>
            </a:r>
          </a:p>
        </p:txBody>
      </p:sp>
      <p:pic>
        <p:nvPicPr>
          <p:cNvPr id="3" name="">
            <a:extLst xmlns:a="http://schemas.openxmlformats.org/drawingml/2006/main">
              <a:ext uri="{FF2B5EF4-FFF2-40B4-BE49-F238E27FC236}">
                <a16:creationId xmlns:a16="http://schemas.microsoft.com/office/drawing/2014/main" id="{2159F45D-BB1C-4D1F-970B-5BE03A3A846C}"/>
              </a:ext>
            </a:extLst>
          </p:cNvPr>
          <p:cNvPicPr>
            <a:picLocks xmlns:a="http://schemas.openxmlformats.org/drawingml/2006/main" noChangeAspect="1"/>
          </p:cNvPicPr>
          <p:nvPr/>
        </p:nvPicPr>
        <p:blipFill>
          <a:blip xmlns:r="http://schemas.openxmlformats.org/officeDocument/2006/relationships" xmlns:a="http://schemas.openxmlformats.org/drawingml/2006/main" r:embed="Rfc0d84a1400c49fd"/>
          <a:stretch xmlns:a="http://schemas.openxmlformats.org/drawingml/2006/main"/>
        </p:blipFill>
        <p:spPr>
          <a:xfrm xmlns:a="http://schemas.openxmlformats.org/drawingml/2006/main">
            <a:off x="2490998" y="1533525"/>
            <a:ext cx="7210004" cy="411480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8B4B45FF-A98E-4661-8636-5429F798EBF2}"/>
              </a:ext>
            </a:extLst>
          </p:cNvPr>
          <p:cNvSpPr>
            <a:spLocks xmlns:a="http://schemas.openxmlformats.org/drawingml/2006/main" noGrp="1"/>
          </p:cNvSpPr>
          <p:nvPr/>
        </p:nvSpPr>
        <p:spPr>
          <a:xfrm xmlns:a="http://schemas.openxmlformats.org/drawingml/2006/main">
            <a:off x="857250" y="58007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655A78"/>
                </a:solidFill>
                <a:latin typeface="Tahoma"/>
                <a:ea typeface="Tahoma"/>
                <a:cs typeface="Tahoma"/>
              </a:defRPr>
            </a:defPPr>
          </a:lstStyle>
          <a:p xmlns:a="http://schemas.openxmlformats.org/drawingml/2006/main">
            <a:pPr algn="r" rtl="1">
              <a:defRPr sz="1875" b="0">
                <a:solidFill>
                  <a:srgbClr val="655A78"/>
                </a:solidFill>
                <a:latin typeface="Tahoma"/>
                <a:ea typeface="Tahoma"/>
                <a:cs typeface="Tahoma"/>
              </a:defRPr>
            </a:pPr>
            <a:r>
              <a:rPr sz="1875" b="0" lang="fa-IR">
                <a:solidFill>
                  <a:srgbClr val="655A78"/>
                </a:solidFill>
                <a:latin typeface="Tahoma"/>
                <a:ea typeface="Tahoma"/>
                <a:cs typeface="Tahoma"/>
              </a:rPr>
              <a:t>API، پردازش اسناد و همگام‌سازی منابع، فرایندهای مستقل دارند.</a:t>
            </a:r>
          </a:p>
        </p:txBody>
      </p:sp>
    </p:spTree>
    <p:extLst>
      <p:ext uri="{BB962C8B-B14F-4D97-AF65-F5344CB8AC3E}">
        <p14:creationId xmlns:p14="http://schemas.microsoft.com/office/powerpoint/2010/main" val="1276075304"/>
      </p:ext>
    </p:extLst>
  </p:cSld>
</p:sld>
</file>

<file path=ppt/slides/slide6.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F0C6F01-B566-4C85-BCAC-EDA97284A836}"/>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بازیابی و تولید پاسخ</a:t>
            </a:r>
          </a:p>
        </p:txBody>
      </p:sp>
      <p:sp>
        <p:nvSpPr>
          <p:cNvPr id="2" name="text-1">
            <a:extLst xmlns:a="http://schemas.openxmlformats.org/drawingml/2006/main">
              <a:ext uri="{FF2B5EF4-FFF2-40B4-BE49-F238E27FC236}">
                <a16:creationId xmlns:a16="http://schemas.microsoft.com/office/drawing/2014/main" id="{1888B885-10E7-47D0-9335-664B2BC0C39B}"/>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06</a:t>
            </a:r>
          </a:p>
        </p:txBody>
      </p:sp>
      <p:sp>
        <p:nvSpPr>
          <p:cNvPr id="3" name="text-2">
            <a:extLst xmlns:a="http://schemas.openxmlformats.org/drawingml/2006/main">
              <a:ext uri="{FF2B5EF4-FFF2-40B4-BE49-F238E27FC236}">
                <a16:creationId xmlns:a16="http://schemas.microsoft.com/office/drawing/2014/main" id="{BEEA5A6E-FAE8-4327-AE95-B81E5A612C0B}"/>
              </a:ext>
            </a:extLst>
          </p:cNvPr>
          <p:cNvSpPr>
            <a:spLocks xmlns:a="http://schemas.openxmlformats.org/drawingml/2006/main" noGrp="1"/>
          </p:cNvSpPr>
          <p:nvPr/>
        </p:nvSpPr>
        <p:spPr>
          <a:xfrm xmlns:a="http://schemas.openxmlformats.org/drawingml/2006/main">
            <a:off x="6762750" y="17145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۱. تعیین اسناد مجاز</a:t>
            </a:r>
          </a:p>
        </p:txBody>
      </p:sp>
      <p:sp>
        <p:nvSpPr>
          <p:cNvPr id="4" name="text-3">
            <a:extLst xmlns:a="http://schemas.openxmlformats.org/drawingml/2006/main">
              <a:ext uri="{FF2B5EF4-FFF2-40B4-BE49-F238E27FC236}">
                <a16:creationId xmlns:a16="http://schemas.microsoft.com/office/drawing/2014/main" id="{DBEF90E2-97E5-4A20-BAE8-0349F91ED832}"/>
              </a:ext>
            </a:extLst>
          </p:cNvPr>
          <p:cNvSpPr>
            <a:spLocks xmlns:a="http://schemas.openxmlformats.org/drawingml/2006/main" noGrp="1"/>
          </p:cNvSpPr>
          <p:nvPr/>
        </p:nvSpPr>
        <p:spPr>
          <a:xfrm xmlns:a="http://schemas.openxmlformats.org/drawingml/2006/main">
            <a:off x="6762750" y="2333625"/>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سازمان و مجوز مجموعه، محدودهٔ جست‌وجو را مشخص می‌کنند.</a:t>
            </a:r>
          </a:p>
        </p:txBody>
      </p:sp>
      <p:sp>
        <p:nvSpPr>
          <p:cNvPr id="5" name="text-4">
            <a:extLst xmlns:a="http://schemas.openxmlformats.org/drawingml/2006/main">
              <a:ext uri="{FF2B5EF4-FFF2-40B4-BE49-F238E27FC236}">
                <a16:creationId xmlns:a16="http://schemas.microsoft.com/office/drawing/2014/main" id="{FECCC24E-2BF7-4D09-8100-566EB438D747}"/>
              </a:ext>
            </a:extLst>
          </p:cNvPr>
          <p:cNvSpPr>
            <a:spLocks xmlns:a="http://schemas.openxmlformats.org/drawingml/2006/main" noGrp="1"/>
          </p:cNvSpPr>
          <p:nvPr/>
        </p:nvSpPr>
        <p:spPr>
          <a:xfrm xmlns:a="http://schemas.openxmlformats.org/drawingml/2006/main">
            <a:off x="619125" y="17145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۲. بازیابی و رتبه‌بندی</a:t>
            </a:r>
          </a:p>
        </p:txBody>
      </p:sp>
      <p:sp>
        <p:nvSpPr>
          <p:cNvPr id="6" name="text-5">
            <a:extLst xmlns:a="http://schemas.openxmlformats.org/drawingml/2006/main">
              <a:ext uri="{FF2B5EF4-FFF2-40B4-BE49-F238E27FC236}">
                <a16:creationId xmlns:a16="http://schemas.microsoft.com/office/drawing/2014/main" id="{B9A3C7E0-B7EE-4777-8DD2-A5997BAB74BB}"/>
              </a:ext>
            </a:extLst>
          </p:cNvPr>
          <p:cNvSpPr>
            <a:spLocks xmlns:a="http://schemas.openxmlformats.org/drawingml/2006/main" noGrp="1"/>
          </p:cNvSpPr>
          <p:nvPr/>
        </p:nvSpPr>
        <p:spPr>
          <a:xfrm xmlns:a="http://schemas.openxmlformats.org/drawingml/2006/main">
            <a:off x="619125" y="2333625"/>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جست‌وجوی ترکیبی، قطعه‌های مرتبط را برای زمینهٔ پاسخ انتخاب می‌کند.</a:t>
            </a:r>
          </a:p>
        </p:txBody>
      </p:sp>
      <p:sp>
        <p:nvSpPr>
          <p:cNvPr id="7" name="text-6">
            <a:extLst xmlns:a="http://schemas.openxmlformats.org/drawingml/2006/main">
              <a:ext uri="{FF2B5EF4-FFF2-40B4-BE49-F238E27FC236}">
                <a16:creationId xmlns:a16="http://schemas.microsoft.com/office/drawing/2014/main" id="{C53AA9EF-4895-40C8-AC3B-299C050B855D}"/>
              </a:ext>
            </a:extLst>
          </p:cNvPr>
          <p:cNvSpPr>
            <a:spLocks xmlns:a="http://schemas.openxmlformats.org/drawingml/2006/main" noGrp="1"/>
          </p:cNvSpPr>
          <p:nvPr/>
        </p:nvSpPr>
        <p:spPr>
          <a:xfrm xmlns:a="http://schemas.openxmlformats.org/drawingml/2006/main">
            <a:off x="6762750" y="4010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۳. آماده‌سازی زمینه</a:t>
            </a:r>
          </a:p>
        </p:txBody>
      </p:sp>
      <p:sp>
        <p:nvSpPr>
          <p:cNvPr id="8" name="text-7">
            <a:extLst xmlns:a="http://schemas.openxmlformats.org/drawingml/2006/main">
              <a:ext uri="{FF2B5EF4-FFF2-40B4-BE49-F238E27FC236}">
                <a16:creationId xmlns:a16="http://schemas.microsoft.com/office/drawing/2014/main" id="{0BCE2DDE-6BF5-4EC0-9E6C-1EFDEECBF409}"/>
              </a:ext>
            </a:extLst>
          </p:cNvPr>
          <p:cNvSpPr>
            <a:spLocks xmlns:a="http://schemas.openxmlformats.org/drawingml/2006/main" noGrp="1"/>
          </p:cNvSpPr>
          <p:nvPr/>
        </p:nvSpPr>
        <p:spPr>
          <a:xfrm xmlns:a="http://schemas.openxmlformats.org/drawingml/2006/main">
            <a:off x="6762750" y="46291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پرسش، تاریخچه و متن بازیابی‌شده به مدل زبانی داده می‌شوند.</a:t>
            </a:r>
          </a:p>
        </p:txBody>
      </p:sp>
      <p:sp>
        <p:nvSpPr>
          <p:cNvPr id="9" name="text-8">
            <a:extLst xmlns:a="http://schemas.openxmlformats.org/drawingml/2006/main">
              <a:ext uri="{FF2B5EF4-FFF2-40B4-BE49-F238E27FC236}">
                <a16:creationId xmlns:a16="http://schemas.microsoft.com/office/drawing/2014/main" id="{33C23B29-02FC-49A1-809E-69C213741EB3}"/>
              </a:ext>
            </a:extLst>
          </p:cNvPr>
          <p:cNvSpPr>
            <a:spLocks xmlns:a="http://schemas.openxmlformats.org/drawingml/2006/main" noGrp="1"/>
          </p:cNvSpPr>
          <p:nvPr/>
        </p:nvSpPr>
        <p:spPr>
          <a:xfrm xmlns:a="http://schemas.openxmlformats.org/drawingml/2006/main">
            <a:off x="619125" y="4010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۴. ذخیرهٔ پاسخ و منابع</a:t>
            </a:r>
          </a:p>
        </p:txBody>
      </p:sp>
      <p:sp>
        <p:nvSpPr>
          <p:cNvPr id="10" name="text-9">
            <a:extLst xmlns:a="http://schemas.openxmlformats.org/drawingml/2006/main">
              <a:ext uri="{FF2B5EF4-FFF2-40B4-BE49-F238E27FC236}">
                <a16:creationId xmlns:a16="http://schemas.microsoft.com/office/drawing/2014/main" id="{024E6041-5EFE-4268-9B92-2433D262F113}"/>
              </a:ext>
            </a:extLst>
          </p:cNvPr>
          <p:cNvSpPr>
            <a:spLocks xmlns:a="http://schemas.openxmlformats.org/drawingml/2006/main" noGrp="1"/>
          </p:cNvSpPr>
          <p:nvPr/>
        </p:nvSpPr>
        <p:spPr>
          <a:xfrm xmlns:a="http://schemas.openxmlformats.org/drawingml/2006/main">
            <a:off x="619125" y="462915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رابط، پاسخ و وضعیت پشتوانهٔ آن را همراه با ارجاع نمایش می‌دهد.</a:t>
            </a:r>
          </a:p>
        </p:txBody>
      </p:sp>
    </p:spTree>
    <p:extLst>
      <p:ext uri="{BB962C8B-B14F-4D97-AF65-F5344CB8AC3E}">
        <p14:creationId xmlns:p14="http://schemas.microsoft.com/office/powerpoint/2010/main" val="1184535112"/>
      </p:ext>
    </p:extLst>
  </p:cSld>
</p:sld>
</file>

<file path=ppt/slides/slide7.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8454BFB-A53B-4540-90C8-425FDC7FEC4B}"/>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مدیریت مجموعه‌های دانش</a:t>
            </a:r>
          </a:p>
        </p:txBody>
      </p:sp>
      <p:sp>
        <p:nvSpPr>
          <p:cNvPr id="2" name="text-1">
            <a:extLst xmlns:a="http://schemas.openxmlformats.org/drawingml/2006/main">
              <a:ext uri="{FF2B5EF4-FFF2-40B4-BE49-F238E27FC236}">
                <a16:creationId xmlns:a16="http://schemas.microsoft.com/office/drawing/2014/main" id="{537472E4-A1B0-40EB-B478-E3E10A3897E5}"/>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07</a:t>
            </a:r>
          </a:p>
        </p:txBody>
      </p:sp>
      <p:pic>
        <p:nvPicPr>
          <p:cNvPr id="3" name="">
            <a:extLst xmlns:a="http://schemas.openxmlformats.org/drawingml/2006/main">
              <a:ext uri="{FF2B5EF4-FFF2-40B4-BE49-F238E27FC236}">
                <a16:creationId xmlns:a16="http://schemas.microsoft.com/office/drawing/2014/main" id="{E53EBD8D-5651-487E-9A03-C4EE2DE9FFB2}"/>
              </a:ext>
            </a:extLst>
          </p:cNvPr>
          <p:cNvPicPr>
            <a:picLocks xmlns:a="http://schemas.openxmlformats.org/drawingml/2006/main" noChangeAspect="1"/>
          </p:cNvPicPr>
          <p:nvPr/>
        </p:nvPicPr>
        <p:blipFill>
          <a:blip xmlns:r="http://schemas.openxmlformats.org/officeDocument/2006/relationships" xmlns:a="http://schemas.openxmlformats.org/drawingml/2006/main" r:embed="Rc2afb9eebdc44098"/>
          <a:stretch xmlns:a="http://schemas.openxmlformats.org/drawingml/2006/main"/>
        </p:blipFill>
        <p:spPr>
          <a:xfrm xmlns:a="http://schemas.openxmlformats.org/drawingml/2006/main">
            <a:off x="730250" y="1543050"/>
            <a:ext cx="7874000" cy="44291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70A68E26-BEDB-4928-9E51-16F536828C29}"/>
              </a:ext>
            </a:extLst>
          </p:cNvPr>
          <p:cNvSpPr>
            <a:spLocks xmlns:a="http://schemas.openxmlformats.org/drawingml/2006/main" noGrp="1"/>
          </p:cNvSpPr>
          <p:nvPr/>
        </p:nvSpPr>
        <p:spPr>
          <a:xfrm xmlns:a="http://schemas.openxmlformats.org/drawingml/2006/main">
            <a:off x="9096375" y="2095500"/>
            <a:ext cx="2428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400" b="1">
                <a:solidFill>
                  <a:srgbClr val="FAF9FD"/>
                </a:solidFill>
                <a:latin typeface="Tahoma"/>
                <a:ea typeface="Tahoma"/>
                <a:cs typeface="Tahoma"/>
              </a:defRPr>
            </a:defPPr>
          </a:lstStyle>
          <a:p xmlns:a="http://schemas.openxmlformats.org/drawingml/2006/main">
            <a:pPr algn="r" rtl="1">
              <a:defRPr sz="2400" b="1">
                <a:solidFill>
                  <a:srgbClr val="FAF9FD"/>
                </a:solidFill>
                <a:latin typeface="Tahoma"/>
                <a:ea typeface="Tahoma"/>
                <a:cs typeface="Tahoma"/>
              </a:defRPr>
            </a:pPr>
            <a:r>
              <a:rPr sz="2400" b="1" lang="fa-IR">
                <a:solidFill>
                  <a:srgbClr val="FAF9FD"/>
                </a:solidFill>
                <a:latin typeface="Tahoma"/>
                <a:ea typeface="Tahoma"/>
                <a:cs typeface="Tahoma"/>
              </a:rPr>
              <a:t>یک محدوده برای</a:t>
            </a:r>
          </a:p>
          <a:p xmlns:a="http://schemas.openxmlformats.org/drawingml/2006/main">
            <a:pPr algn="r" rtl="1">
              <a:defRPr sz="2400" b="1">
                <a:solidFill>
                  <a:srgbClr val="FAF9FD"/>
                </a:solidFill>
                <a:latin typeface="Tahoma"/>
                <a:ea typeface="Tahoma"/>
                <a:cs typeface="Tahoma"/>
              </a:defRPr>
            </a:pPr>
            <a:r>
              <a:rPr sz="2400" b="1" lang="fa-IR">
                <a:solidFill>
                  <a:srgbClr val="FAF9FD"/>
                </a:solidFill>
                <a:latin typeface="Tahoma"/>
                <a:ea typeface="Tahoma"/>
                <a:cs typeface="Tahoma"/>
              </a:rPr>
              <a:t>هر موضوع</a:t>
            </a:r>
          </a:p>
        </p:txBody>
      </p:sp>
      <p:sp>
        <p:nvSpPr>
          <p:cNvPr id="5" name="text-3">
            <a:extLst xmlns:a="http://schemas.openxmlformats.org/drawingml/2006/main">
              <a:ext uri="{FF2B5EF4-FFF2-40B4-BE49-F238E27FC236}">
                <a16:creationId xmlns:a16="http://schemas.microsoft.com/office/drawing/2014/main" id="{E8346DDA-D9BB-467E-9A62-9464254AF493}"/>
              </a:ext>
            </a:extLst>
          </p:cNvPr>
          <p:cNvSpPr>
            <a:spLocks xmlns:a="http://schemas.openxmlformats.org/drawingml/2006/main" noGrp="1"/>
          </p:cNvSpPr>
          <p:nvPr/>
        </p:nvSpPr>
        <p:spPr>
          <a:xfrm xmlns:a="http://schemas.openxmlformats.org/drawingml/2006/main">
            <a:off x="9096375" y="3705225"/>
            <a:ext cx="2428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اسناد، وضعیت پردازش و عملیات مجموعه در یک صفحه قرار دارند.</a:t>
            </a:r>
          </a:p>
        </p:txBody>
      </p:sp>
    </p:spTree>
    <p:extLst>
      <p:ext uri="{BB962C8B-B14F-4D97-AF65-F5344CB8AC3E}">
        <p14:creationId xmlns:p14="http://schemas.microsoft.com/office/powerpoint/2010/main" val="1652269777"/>
      </p:ext>
    </p:extLst>
  </p:cSld>
</p:sld>
</file>

<file path=ppt/slides/slide8.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AE96606-3D9B-43F9-8BDC-C689C96C7037}"/>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پردازش اسناد</a:t>
            </a:r>
          </a:p>
        </p:txBody>
      </p:sp>
      <p:sp>
        <p:nvSpPr>
          <p:cNvPr id="2" name="text-1">
            <a:extLst xmlns:a="http://schemas.openxmlformats.org/drawingml/2006/main">
              <a:ext uri="{FF2B5EF4-FFF2-40B4-BE49-F238E27FC236}">
                <a16:creationId xmlns:a16="http://schemas.microsoft.com/office/drawing/2014/main" id="{65ED4D0F-B20D-40A5-8A33-1D9D3A5E768A}"/>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08</a:t>
            </a:r>
          </a:p>
        </p:txBody>
      </p:sp>
      <p:pic>
        <p:nvPicPr>
          <p:cNvPr id="3" name="">
            <a:extLst xmlns:a="http://schemas.openxmlformats.org/drawingml/2006/main">
              <a:ext uri="{FF2B5EF4-FFF2-40B4-BE49-F238E27FC236}">
                <a16:creationId xmlns:a16="http://schemas.microsoft.com/office/drawing/2014/main" id="{7F83D5C9-9F0A-4718-BAB8-69AF554B8A9A}"/>
              </a:ext>
            </a:extLst>
          </p:cNvPr>
          <p:cNvPicPr>
            <a:picLocks xmlns:a="http://schemas.openxmlformats.org/drawingml/2006/main" noChangeAspect="1"/>
          </p:cNvPicPr>
          <p:nvPr/>
        </p:nvPicPr>
        <p:blipFill>
          <a:blip xmlns:r="http://schemas.openxmlformats.org/officeDocument/2006/relationships" xmlns:a="http://schemas.openxmlformats.org/drawingml/2006/main" r:embed="Ra2b54bb9df7e4ccd"/>
          <a:stretch xmlns:a="http://schemas.openxmlformats.org/drawingml/2006/main"/>
        </p:blipFill>
        <p:spPr>
          <a:xfrm xmlns:a="http://schemas.openxmlformats.org/drawingml/2006/main">
            <a:off x="619125" y="1778198"/>
            <a:ext cx="6953250" cy="3911203"/>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D48E42C7-BFA1-4C3B-A108-9DB267B6DF7B}"/>
              </a:ext>
            </a:extLst>
          </p:cNvPr>
          <p:cNvSpPr>
            <a:spLocks xmlns:a="http://schemas.openxmlformats.org/drawingml/2006/main" noGrp="1"/>
          </p:cNvSpPr>
          <p:nvPr/>
        </p:nvSpPr>
        <p:spPr>
          <a:xfrm xmlns:a="http://schemas.openxmlformats.org/drawingml/2006/main">
            <a:off x="8001000" y="1809750"/>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استخراج و OCR</a:t>
            </a:r>
          </a:p>
        </p:txBody>
      </p:sp>
      <p:sp>
        <p:nvSpPr>
          <p:cNvPr id="5" name="text-3">
            <a:extLst xmlns:a="http://schemas.openxmlformats.org/drawingml/2006/main">
              <a:ext uri="{FF2B5EF4-FFF2-40B4-BE49-F238E27FC236}">
                <a16:creationId xmlns:a16="http://schemas.microsoft.com/office/drawing/2014/main" id="{923B3C88-D95E-4F36-A5DE-20B24E06D717}"/>
              </a:ext>
            </a:extLst>
          </p:cNvPr>
          <p:cNvSpPr>
            <a:spLocks xmlns:a="http://schemas.openxmlformats.org/drawingml/2006/main" noGrp="1"/>
          </p:cNvSpPr>
          <p:nvPr/>
        </p:nvSpPr>
        <p:spPr>
          <a:xfrm xmlns:a="http://schemas.openxmlformats.org/drawingml/2006/main">
            <a:off x="8001000" y="2428875"/>
            <a:ext cx="3476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متن فایل خوانده می‌شود؛ OCR برای محتوای اسکن‌شده اختیاری است.</a:t>
            </a:r>
          </a:p>
        </p:txBody>
      </p:sp>
      <p:sp>
        <p:nvSpPr>
          <p:cNvPr id="6" name="text-4">
            <a:extLst xmlns:a="http://schemas.openxmlformats.org/drawingml/2006/main">
              <a:ext uri="{FF2B5EF4-FFF2-40B4-BE49-F238E27FC236}">
                <a16:creationId xmlns:a16="http://schemas.microsoft.com/office/drawing/2014/main" id="{68062B84-018F-437F-85C5-67D929393B95}"/>
              </a:ext>
            </a:extLst>
          </p:cNvPr>
          <p:cNvSpPr>
            <a:spLocks xmlns:a="http://schemas.openxmlformats.org/drawingml/2006/main" noGrp="1"/>
          </p:cNvSpPr>
          <p:nvPr/>
        </p:nvSpPr>
        <p:spPr>
          <a:xfrm xmlns:a="http://schemas.openxmlformats.org/drawingml/2006/main">
            <a:off x="8001000" y="3943350"/>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قطعه‌بندی و ایندکس</a:t>
            </a:r>
          </a:p>
        </p:txBody>
      </p:sp>
      <p:sp>
        <p:nvSpPr>
          <p:cNvPr id="7" name="text-5">
            <a:extLst xmlns:a="http://schemas.openxmlformats.org/drawingml/2006/main">
              <a:ext uri="{FF2B5EF4-FFF2-40B4-BE49-F238E27FC236}">
                <a16:creationId xmlns:a16="http://schemas.microsoft.com/office/drawing/2014/main" id="{4906493A-AE03-49CF-B50B-5015B90D0276}"/>
              </a:ext>
            </a:extLst>
          </p:cNvPr>
          <p:cNvSpPr>
            <a:spLocks xmlns:a="http://schemas.openxmlformats.org/drawingml/2006/main" noGrp="1"/>
          </p:cNvSpPr>
          <p:nvPr/>
        </p:nvSpPr>
        <p:spPr>
          <a:xfrm xmlns:a="http://schemas.openxmlformats.org/drawingml/2006/main">
            <a:off x="8001000" y="4562475"/>
            <a:ext cx="3476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قطعه‌ها همراه با شناسه و فراداده در مسیر بازیابی قرار می‌گیرند.</a:t>
            </a:r>
          </a:p>
        </p:txBody>
      </p:sp>
    </p:spTree>
    <p:extLst>
      <p:ext uri="{BB962C8B-B14F-4D97-AF65-F5344CB8AC3E}">
        <p14:creationId xmlns:p14="http://schemas.microsoft.com/office/powerpoint/2010/main" val="1055826995"/>
      </p:ext>
    </p:extLst>
  </p:cSld>
</p:sld>
</file>

<file path=ppt/slides/slide9.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E34388D-008E-47D8-B7E4-C4AC1FCC1950}"/>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گفتگوی مبتنی بر منابع</a:t>
            </a:r>
          </a:p>
        </p:txBody>
      </p:sp>
      <p:sp>
        <p:nvSpPr>
          <p:cNvPr id="2" name="text-1">
            <a:extLst xmlns:a="http://schemas.openxmlformats.org/drawingml/2006/main">
              <a:ext uri="{FF2B5EF4-FFF2-40B4-BE49-F238E27FC236}">
                <a16:creationId xmlns:a16="http://schemas.microsoft.com/office/drawing/2014/main" id="{21228F57-FBEF-48DD-A787-400090F76D0B}"/>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09</a:t>
            </a:r>
          </a:p>
        </p:txBody>
      </p:sp>
      <p:pic>
        <p:nvPicPr>
          <p:cNvPr id="3" name="">
            <a:extLst xmlns:a="http://schemas.openxmlformats.org/drawingml/2006/main">
              <a:ext uri="{FF2B5EF4-FFF2-40B4-BE49-F238E27FC236}">
                <a16:creationId xmlns:a16="http://schemas.microsoft.com/office/drawing/2014/main" id="{93A3CAB6-1C6F-48D3-83DE-C9996ACFD759}"/>
              </a:ext>
            </a:extLst>
          </p:cNvPr>
          <p:cNvPicPr>
            <a:picLocks xmlns:a="http://schemas.openxmlformats.org/drawingml/2006/main" noChangeAspect="1"/>
          </p:cNvPicPr>
          <p:nvPr/>
        </p:nvPicPr>
        <p:blipFill>
          <a:blip xmlns:r="http://schemas.openxmlformats.org/officeDocument/2006/relationships" xmlns:a="http://schemas.openxmlformats.org/drawingml/2006/main" r:embed="R87a23f794cd747cd"/>
          <a:stretch xmlns:a="http://schemas.openxmlformats.org/drawingml/2006/main"/>
        </p:blipFill>
        <p:spPr>
          <a:xfrm xmlns:a="http://schemas.openxmlformats.org/drawingml/2006/main">
            <a:off x="730250" y="1543050"/>
            <a:ext cx="7874000" cy="44291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EED2FA3F-A8A4-4545-87A4-27B35729C479}"/>
              </a:ext>
            </a:extLst>
          </p:cNvPr>
          <p:cNvSpPr>
            <a:spLocks xmlns:a="http://schemas.openxmlformats.org/drawingml/2006/main" noGrp="1"/>
          </p:cNvSpPr>
          <p:nvPr/>
        </p:nvSpPr>
        <p:spPr>
          <a:xfrm xmlns:a="http://schemas.openxmlformats.org/drawingml/2006/main">
            <a:off x="9096375" y="21145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325" b="1">
                <a:solidFill>
                  <a:srgbClr val="FAF9FD"/>
                </a:solidFill>
                <a:latin typeface="Tahoma"/>
                <a:ea typeface="Tahoma"/>
                <a:cs typeface="Tahoma"/>
              </a:defRPr>
            </a:defPPr>
          </a:lstStyle>
          <a:p xmlns:a="http://schemas.openxmlformats.org/drawingml/2006/main">
            <a:pPr algn="r" rtl="1">
              <a:defRPr sz="2325" b="1">
                <a:solidFill>
                  <a:srgbClr val="FAF9FD"/>
                </a:solidFill>
                <a:latin typeface="Tahoma"/>
                <a:ea typeface="Tahoma"/>
                <a:cs typeface="Tahoma"/>
              </a:defRPr>
            </a:pPr>
            <a:r>
              <a:rPr sz="2325" b="1" lang="fa-IR">
                <a:solidFill>
                  <a:srgbClr val="FAF9FD"/>
                </a:solidFill>
                <a:latin typeface="Tahoma"/>
                <a:ea typeface="Tahoma"/>
                <a:cs typeface="Tahoma"/>
              </a:rPr>
              <a:t>پرسش در محدودهٔ</a:t>
            </a:r>
          </a:p>
          <a:p xmlns:a="http://schemas.openxmlformats.org/drawingml/2006/main">
            <a:pPr algn="r" rtl="1">
              <a:defRPr sz="2325" b="1">
                <a:solidFill>
                  <a:srgbClr val="FAF9FD"/>
                </a:solidFill>
                <a:latin typeface="Tahoma"/>
                <a:ea typeface="Tahoma"/>
                <a:cs typeface="Tahoma"/>
              </a:defRPr>
            </a:pPr>
            <a:r>
              <a:rPr sz="2325" b="1" lang="fa-IR">
                <a:solidFill>
                  <a:srgbClr val="FAF9FD"/>
                </a:solidFill>
                <a:latin typeface="Tahoma"/>
                <a:ea typeface="Tahoma"/>
                <a:cs typeface="Tahoma"/>
              </a:rPr>
              <a:t>دانش انتخاب‌شده</a:t>
            </a:r>
          </a:p>
        </p:txBody>
      </p:sp>
      <p:sp>
        <p:nvSpPr>
          <p:cNvPr id="5" name="text-3">
            <a:extLst xmlns:a="http://schemas.openxmlformats.org/drawingml/2006/main">
              <a:ext uri="{FF2B5EF4-FFF2-40B4-BE49-F238E27FC236}">
                <a16:creationId xmlns:a16="http://schemas.microsoft.com/office/drawing/2014/main" id="{B6F3E6D4-45B5-4739-B1C0-CCF2EBDD0967}"/>
              </a:ext>
            </a:extLst>
          </p:cNvPr>
          <p:cNvSpPr>
            <a:spLocks xmlns:a="http://schemas.openxmlformats.org/drawingml/2006/main" noGrp="1"/>
          </p:cNvSpPr>
          <p:nvPr/>
        </p:nvSpPr>
        <p:spPr>
          <a:xfrm xmlns:a="http://schemas.openxmlformats.org/drawingml/2006/main">
            <a:off x="9096375" y="4057650"/>
            <a:ext cx="2428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تاریخچه، منابع و بازخورد، بررسی پاسخ را ممکن می‌کنند.</a:t>
            </a:r>
          </a:p>
        </p:txBody>
      </p:sp>
    </p:spTree>
    <p:extLst>
      <p:ext uri="{BB962C8B-B14F-4D97-AF65-F5344CB8AC3E}">
        <p14:creationId xmlns:p14="http://schemas.microsoft.com/office/powerpoint/2010/main" val="1170307634"/>
      </p:ext>
    </p:extLst>
  </p:cSld>
</p:sld>
</file>

<file path=ppt/slides/slide10.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6579056-45DA-421A-AD77-0DDCFFCDD8A5}"/>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بررسی منبع و پشتوانهٔ پاسخ</a:t>
            </a:r>
          </a:p>
        </p:txBody>
      </p:sp>
      <p:sp>
        <p:nvSpPr>
          <p:cNvPr id="2" name="text-1">
            <a:extLst xmlns:a="http://schemas.openxmlformats.org/drawingml/2006/main">
              <a:ext uri="{FF2B5EF4-FFF2-40B4-BE49-F238E27FC236}">
                <a16:creationId xmlns:a16="http://schemas.microsoft.com/office/drawing/2014/main" id="{AC1BBDEE-B11F-4622-89DC-B4D1160ED355}"/>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10</a:t>
            </a:r>
          </a:p>
        </p:txBody>
      </p:sp>
      <p:pic>
        <p:nvPicPr>
          <p:cNvPr id="3" name="">
            <a:extLst xmlns:a="http://schemas.openxmlformats.org/drawingml/2006/main">
              <a:ext uri="{FF2B5EF4-FFF2-40B4-BE49-F238E27FC236}">
                <a16:creationId xmlns:a16="http://schemas.microsoft.com/office/drawing/2014/main" id="{F86C4258-D9A4-45F4-A8A5-541B24224DC3}"/>
              </a:ext>
            </a:extLst>
          </p:cNvPr>
          <p:cNvPicPr>
            <a:picLocks xmlns:a="http://schemas.openxmlformats.org/drawingml/2006/main" noChangeAspect="1"/>
          </p:cNvPicPr>
          <p:nvPr/>
        </p:nvPicPr>
        <p:blipFill>
          <a:blip xmlns:r="http://schemas.openxmlformats.org/officeDocument/2006/relationships" xmlns:a="http://schemas.openxmlformats.org/drawingml/2006/main" r:embed="R99497cae565048a4"/>
          <a:stretch xmlns:a="http://schemas.openxmlformats.org/drawingml/2006/main"/>
        </p:blipFill>
        <p:spPr>
          <a:xfrm xmlns:a="http://schemas.openxmlformats.org/drawingml/2006/main">
            <a:off x="619125" y="1721644"/>
            <a:ext cx="7239000" cy="4071938"/>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247D68A4-9AE8-43AC-A202-F29A8F69B24D}"/>
              </a:ext>
            </a:extLst>
          </p:cNvPr>
          <p:cNvSpPr>
            <a:spLocks xmlns:a="http://schemas.openxmlformats.org/drawingml/2006/main" noGrp="1"/>
          </p:cNvSpPr>
          <p:nvPr/>
        </p:nvSpPr>
        <p:spPr>
          <a:xfrm xmlns:a="http://schemas.openxmlformats.org/drawingml/2006/main">
            <a:off x="8239125" y="180975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ارجاع قابل پیگیری</a:t>
            </a:r>
          </a:p>
        </p:txBody>
      </p:sp>
      <p:sp>
        <p:nvSpPr>
          <p:cNvPr id="5" name="text-3">
            <a:extLst xmlns:a="http://schemas.openxmlformats.org/drawingml/2006/main">
              <a:ext uri="{FF2B5EF4-FFF2-40B4-BE49-F238E27FC236}">
                <a16:creationId xmlns:a16="http://schemas.microsoft.com/office/drawing/2014/main" id="{82D1AEF6-70EF-4008-ADF0-B4A9374B2719}"/>
              </a:ext>
            </a:extLst>
          </p:cNvPr>
          <p:cNvSpPr>
            <a:spLocks xmlns:a="http://schemas.openxmlformats.org/drawingml/2006/main" noGrp="1"/>
          </p:cNvSpPr>
          <p:nvPr/>
        </p:nvSpPr>
        <p:spPr>
          <a:xfrm xmlns:a="http://schemas.openxmlformats.org/drawingml/2006/main">
            <a:off x="8239125" y="2428875"/>
            <a:ext cx="3286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کاربر می‌تواند محتوای مورد استناد را بررسی کند.</a:t>
            </a:r>
          </a:p>
        </p:txBody>
      </p:sp>
      <p:sp>
        <p:nvSpPr>
          <p:cNvPr id="6" name="text-4">
            <a:extLst xmlns:a="http://schemas.openxmlformats.org/drawingml/2006/main">
              <a:ext uri="{FF2B5EF4-FFF2-40B4-BE49-F238E27FC236}">
                <a16:creationId xmlns:a16="http://schemas.microsoft.com/office/drawing/2014/main" id="{3ECD73B7-590D-4E8D-B4D0-2AE23241FB00}"/>
              </a:ext>
            </a:extLst>
          </p:cNvPr>
          <p:cNvSpPr>
            <a:spLocks xmlns:a="http://schemas.openxmlformats.org/drawingml/2006/main" noGrp="1"/>
          </p:cNvSpPr>
          <p:nvPr/>
        </p:nvSpPr>
        <p:spPr>
          <a:xfrm xmlns:a="http://schemas.openxmlformats.org/drawingml/2006/main">
            <a:off x="8239125" y="3857625"/>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شواهد ناکافی</a:t>
            </a:r>
          </a:p>
        </p:txBody>
      </p:sp>
      <p:sp>
        <p:nvSpPr>
          <p:cNvPr id="7" name="text-5">
            <a:extLst xmlns:a="http://schemas.openxmlformats.org/drawingml/2006/main">
              <a:ext uri="{FF2B5EF4-FFF2-40B4-BE49-F238E27FC236}">
                <a16:creationId xmlns:a16="http://schemas.microsoft.com/office/drawing/2014/main" id="{CAAC8D0F-55BB-4F54-AF69-98D13FDA974F}"/>
              </a:ext>
            </a:extLst>
          </p:cNvPr>
          <p:cNvSpPr>
            <a:spLocks xmlns:a="http://schemas.openxmlformats.org/drawingml/2006/main" noGrp="1"/>
          </p:cNvSpPr>
          <p:nvPr/>
        </p:nvSpPr>
        <p:spPr>
          <a:xfrm xmlns:a="http://schemas.openxmlformats.org/drawingml/2006/main">
            <a:off x="8239125" y="4476750"/>
            <a:ext cx="3286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در نبود پشتوانه، سامانه وضعیت ناکافی‌بودن منابع را نشان می‌دهد.</a:t>
            </a:r>
          </a:p>
        </p:txBody>
      </p:sp>
    </p:spTree>
    <p:extLst>
      <p:ext uri="{BB962C8B-B14F-4D97-AF65-F5344CB8AC3E}">
        <p14:creationId xmlns:p14="http://schemas.microsoft.com/office/powerpoint/2010/main" val="900520092"/>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1290942-7F34-4285-AB1D-120521868368}"/>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211B32"/>
                </a:solidFill>
                <a:latin typeface="Tahoma"/>
                <a:ea typeface="Tahoma"/>
                <a:cs typeface="Tahoma"/>
              </a:defRPr>
            </a:defPPr>
          </a:lstStyle>
          <a:p xmlns:a="http://schemas.openxmlformats.org/drawingml/2006/main">
            <a:pPr algn="r" rtl="1">
              <a:defRPr sz="3300" b="1">
                <a:solidFill>
                  <a:srgbClr val="211B32"/>
                </a:solidFill>
                <a:latin typeface="Tahoma"/>
                <a:ea typeface="Tahoma"/>
                <a:cs typeface="Tahoma"/>
              </a:defRPr>
            </a:pPr>
            <a:r>
              <a:rPr sz="3300" b="1" lang="fa-IR">
                <a:solidFill>
                  <a:srgbClr val="211B32"/>
                </a:solidFill>
                <a:latin typeface="Tahoma"/>
                <a:ea typeface="Tahoma"/>
                <a:cs typeface="Tahoma"/>
              </a:rPr>
              <a:t>دسترسی و مرز داده‌ها</a:t>
            </a:r>
          </a:p>
        </p:txBody>
      </p:sp>
      <p:sp>
        <p:nvSpPr>
          <p:cNvPr id="2" name="text-1">
            <a:extLst xmlns:a="http://schemas.openxmlformats.org/drawingml/2006/main">
              <a:ext uri="{FF2B5EF4-FFF2-40B4-BE49-F238E27FC236}">
                <a16:creationId xmlns:a16="http://schemas.microsoft.com/office/drawing/2014/main" id="{8883DF00-853F-49E0-A760-D1A39B539E01}"/>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777084"/>
                </a:solidFill>
                <a:latin typeface="Tahoma"/>
                <a:ea typeface="Tahoma"/>
                <a:cs typeface="Tahoma"/>
              </a:defRPr>
            </a:defPPr>
          </a:lstStyle>
          <a:p xmlns:a="http://schemas.openxmlformats.org/drawingml/2006/main">
            <a:pPr algn="l" rtl="1">
              <a:defRPr sz="1275" b="0">
                <a:solidFill>
                  <a:srgbClr val="777084"/>
                </a:solidFill>
                <a:latin typeface="Tahoma"/>
                <a:ea typeface="Tahoma"/>
                <a:cs typeface="Tahoma"/>
              </a:defRPr>
            </a:pPr>
            <a:r>
              <a:rPr sz="1275" b="0" lang="fa-IR">
                <a:solidFill>
                  <a:srgbClr val="777084"/>
                </a:solidFill>
                <a:latin typeface="Tahoma"/>
                <a:ea typeface="Tahoma"/>
                <a:cs typeface="Tahoma"/>
              </a:rPr>
              <a:t>11</a:t>
            </a:r>
          </a:p>
        </p:txBody>
      </p:sp>
      <p:sp>
        <p:nvSpPr>
          <p:cNvPr id="3" name="text-2">
            <a:extLst xmlns:a="http://schemas.openxmlformats.org/drawingml/2006/main">
              <a:ext uri="{FF2B5EF4-FFF2-40B4-BE49-F238E27FC236}">
                <a16:creationId xmlns:a16="http://schemas.microsoft.com/office/drawing/2014/main" id="{0C65690E-DE4F-4F8A-B6E2-81D9C0B9B7A9}"/>
              </a:ext>
            </a:extLst>
          </p:cNvPr>
          <p:cNvSpPr>
            <a:spLocks xmlns:a="http://schemas.openxmlformats.org/drawingml/2006/main" noGrp="1"/>
          </p:cNvSpPr>
          <p:nvPr/>
        </p:nvSpPr>
        <p:spPr>
          <a:xfrm xmlns:a="http://schemas.openxmlformats.org/drawingml/2006/main">
            <a:off x="6762750" y="174307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56379F"/>
                </a:solidFill>
                <a:latin typeface="Tahoma"/>
                <a:ea typeface="Tahoma"/>
                <a:cs typeface="Tahoma"/>
              </a:defRPr>
            </a:defPPr>
          </a:lstStyle>
          <a:p xmlns:a="http://schemas.openxmlformats.org/drawingml/2006/main">
            <a:pPr algn="r" rtl="1">
              <a:defRPr sz="2250" b="1">
                <a:solidFill>
                  <a:srgbClr val="56379F"/>
                </a:solidFill>
                <a:latin typeface="Tahoma"/>
                <a:ea typeface="Tahoma"/>
                <a:cs typeface="Tahoma"/>
              </a:defRPr>
            </a:pPr>
            <a:r>
              <a:rPr sz="2250" b="1" lang="fa-IR">
                <a:solidFill>
                  <a:srgbClr val="56379F"/>
                </a:solidFill>
                <a:latin typeface="Tahoma"/>
                <a:ea typeface="Tahoma"/>
                <a:cs typeface="Tahoma"/>
              </a:rPr>
              <a:t>مدیر سازمان</a:t>
            </a:r>
          </a:p>
        </p:txBody>
      </p:sp>
      <p:sp>
        <p:nvSpPr>
          <p:cNvPr id="4" name="text-3">
            <a:extLst xmlns:a="http://schemas.openxmlformats.org/drawingml/2006/main">
              <a:ext uri="{FF2B5EF4-FFF2-40B4-BE49-F238E27FC236}">
                <a16:creationId xmlns:a16="http://schemas.microsoft.com/office/drawing/2014/main" id="{61508E84-0D3C-496D-AA39-11BF9FBF2C11}"/>
              </a:ext>
            </a:extLst>
          </p:cNvPr>
          <p:cNvSpPr>
            <a:spLocks xmlns:a="http://schemas.openxmlformats.org/drawingml/2006/main" noGrp="1"/>
          </p:cNvSpPr>
          <p:nvPr/>
        </p:nvSpPr>
        <p:spPr>
          <a:xfrm xmlns:a="http://schemas.openxmlformats.org/drawingml/2006/main">
            <a:off x="6762750" y="23622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11B32"/>
                </a:solidFill>
                <a:latin typeface="Tahoma"/>
                <a:ea typeface="Tahoma"/>
                <a:cs typeface="Tahoma"/>
              </a:defRPr>
            </a:defPPr>
          </a:lstStyle>
          <a:p xmlns:a="http://schemas.openxmlformats.org/drawingml/2006/main">
            <a:pPr algn="r" rtl="1">
              <a:defRPr sz="1875" b="0">
                <a:solidFill>
                  <a:srgbClr val="211B32"/>
                </a:solidFill>
                <a:latin typeface="Tahoma"/>
                <a:ea typeface="Tahoma"/>
                <a:cs typeface="Tahoma"/>
              </a:defRPr>
            </a:pPr>
            <a:r>
              <a:rPr sz="1875" b="0" lang="fa-IR">
                <a:solidFill>
                  <a:srgbClr val="211B32"/>
                </a:solidFill>
                <a:latin typeface="Tahoma"/>
                <a:ea typeface="Tahoma"/>
                <a:cs typeface="Tahoma"/>
              </a:rPr>
              <a:t>مدیریت اعضا، مجموعه‌ها، اسناد، دستیارها و اتصال‌ها در محدودهٔ سازمان.</a:t>
            </a:r>
          </a:p>
        </p:txBody>
      </p:sp>
      <p:sp>
        <p:nvSpPr>
          <p:cNvPr id="5" name="text-4">
            <a:extLst xmlns:a="http://schemas.openxmlformats.org/drawingml/2006/main">
              <a:ext uri="{FF2B5EF4-FFF2-40B4-BE49-F238E27FC236}">
                <a16:creationId xmlns:a16="http://schemas.microsoft.com/office/drawing/2014/main" id="{B4132F37-5F63-42A7-9AFF-34A44164506B}"/>
              </a:ext>
            </a:extLst>
          </p:cNvPr>
          <p:cNvSpPr>
            <a:spLocks xmlns:a="http://schemas.openxmlformats.org/drawingml/2006/main" noGrp="1"/>
          </p:cNvSpPr>
          <p:nvPr/>
        </p:nvSpPr>
        <p:spPr>
          <a:xfrm xmlns:a="http://schemas.openxmlformats.org/drawingml/2006/main">
            <a:off x="714375" y="174307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56379F"/>
                </a:solidFill>
                <a:latin typeface="Tahoma"/>
                <a:ea typeface="Tahoma"/>
                <a:cs typeface="Tahoma"/>
              </a:defRPr>
            </a:defPPr>
          </a:lstStyle>
          <a:p xmlns:a="http://schemas.openxmlformats.org/drawingml/2006/main">
            <a:pPr algn="r" rtl="1">
              <a:defRPr sz="2250" b="1">
                <a:solidFill>
                  <a:srgbClr val="56379F"/>
                </a:solidFill>
                <a:latin typeface="Tahoma"/>
                <a:ea typeface="Tahoma"/>
                <a:cs typeface="Tahoma"/>
              </a:defRPr>
            </a:pPr>
            <a:r>
              <a:rPr sz="2250" b="1" lang="fa-IR">
                <a:solidFill>
                  <a:srgbClr val="56379F"/>
                </a:solidFill>
                <a:latin typeface="Tahoma"/>
                <a:ea typeface="Tahoma"/>
                <a:cs typeface="Tahoma"/>
              </a:rPr>
              <a:t>کاربر مجاز</a:t>
            </a:r>
          </a:p>
        </p:txBody>
      </p:sp>
      <p:sp>
        <p:nvSpPr>
          <p:cNvPr id="6" name="text-5">
            <a:extLst xmlns:a="http://schemas.openxmlformats.org/drawingml/2006/main">
              <a:ext uri="{FF2B5EF4-FFF2-40B4-BE49-F238E27FC236}">
                <a16:creationId xmlns:a16="http://schemas.microsoft.com/office/drawing/2014/main" id="{69A54A50-BCED-41E0-955D-9BEBD31B1D5E}"/>
              </a:ext>
            </a:extLst>
          </p:cNvPr>
          <p:cNvSpPr>
            <a:spLocks xmlns:a="http://schemas.openxmlformats.org/drawingml/2006/main" noGrp="1"/>
          </p:cNvSpPr>
          <p:nvPr/>
        </p:nvSpPr>
        <p:spPr>
          <a:xfrm xmlns:a="http://schemas.openxmlformats.org/drawingml/2006/main">
            <a:off x="714375" y="23622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11B32"/>
                </a:solidFill>
                <a:latin typeface="Tahoma"/>
                <a:ea typeface="Tahoma"/>
                <a:cs typeface="Tahoma"/>
              </a:defRPr>
            </a:defPPr>
          </a:lstStyle>
          <a:p xmlns:a="http://schemas.openxmlformats.org/drawingml/2006/main">
            <a:pPr algn="r" rtl="1">
              <a:defRPr sz="1875" b="0">
                <a:solidFill>
                  <a:srgbClr val="211B32"/>
                </a:solidFill>
                <a:latin typeface="Tahoma"/>
                <a:ea typeface="Tahoma"/>
                <a:cs typeface="Tahoma"/>
              </a:defRPr>
            </a:pPr>
            <a:r>
              <a:rPr sz="1875" b="0" lang="fa-IR">
                <a:solidFill>
                  <a:srgbClr val="211B32"/>
                </a:solidFill>
                <a:latin typeface="Tahoma"/>
                <a:ea typeface="Tahoma"/>
                <a:cs typeface="Tahoma"/>
              </a:rPr>
              <a:t>گفتگو و مشاهدهٔ منابع بر اساس نقش و مجوز مجموعهٔ دانش.</a:t>
            </a:r>
          </a:p>
        </p:txBody>
      </p:sp>
      <p:sp>
        <p:nvSpPr>
          <p:cNvPr id="7" name="text-6">
            <a:extLst xmlns:a="http://schemas.openxmlformats.org/drawingml/2006/main">
              <a:ext uri="{FF2B5EF4-FFF2-40B4-BE49-F238E27FC236}">
                <a16:creationId xmlns:a16="http://schemas.microsoft.com/office/drawing/2014/main" id="{DE8BDDFD-7184-411E-88CC-25D523B22CC2}"/>
              </a:ext>
            </a:extLst>
          </p:cNvPr>
          <p:cNvSpPr>
            <a:spLocks xmlns:a="http://schemas.openxmlformats.org/drawingml/2006/main" noGrp="1"/>
          </p:cNvSpPr>
          <p:nvPr/>
        </p:nvSpPr>
        <p:spPr>
          <a:xfrm xmlns:a="http://schemas.openxmlformats.org/drawingml/2006/main">
            <a:off x="1428750" y="41814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925" b="1">
                <a:solidFill>
                  <a:srgbClr val="211B32"/>
                </a:solidFill>
                <a:latin typeface="Tahoma"/>
                <a:ea typeface="Tahoma"/>
                <a:cs typeface="Tahoma"/>
              </a:defRPr>
            </a:defPPr>
          </a:lstStyle>
          <a:p xmlns:a="http://schemas.openxmlformats.org/drawingml/2006/main">
            <a:pPr algn="r" rtl="1">
              <a:defRPr sz="2925" b="1">
                <a:solidFill>
                  <a:srgbClr val="211B32"/>
                </a:solidFill>
                <a:latin typeface="Tahoma"/>
                <a:ea typeface="Tahoma"/>
                <a:cs typeface="Tahoma"/>
              </a:defRPr>
            </a:pPr>
            <a:r>
              <a:rPr sz="2925" b="1" lang="fa-IR">
                <a:solidFill>
                  <a:srgbClr val="211B32"/>
                </a:solidFill>
                <a:latin typeface="Tahoma"/>
                <a:ea typeface="Tahoma"/>
                <a:cs typeface="Tahoma"/>
              </a:rPr>
              <a:t>کنترل دسترسی در سمت سرور</a:t>
            </a:r>
          </a:p>
        </p:txBody>
      </p:sp>
      <p:sp>
        <p:nvSpPr>
          <p:cNvPr id="8" name="text-7">
            <a:extLst xmlns:a="http://schemas.openxmlformats.org/drawingml/2006/main">
              <a:ext uri="{FF2B5EF4-FFF2-40B4-BE49-F238E27FC236}">
                <a16:creationId xmlns:a16="http://schemas.microsoft.com/office/drawing/2014/main" id="{A291F339-7170-4764-8C2B-AFEA6DFC1C5B}"/>
              </a:ext>
            </a:extLst>
          </p:cNvPr>
          <p:cNvSpPr>
            <a:spLocks xmlns:a="http://schemas.openxmlformats.org/drawingml/2006/main" noGrp="1"/>
          </p:cNvSpPr>
          <p:nvPr/>
        </p:nvSpPr>
        <p:spPr>
          <a:xfrm xmlns:a="http://schemas.openxmlformats.org/drawingml/2006/main">
            <a:off x="1238250" y="51625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0">
                <a:solidFill>
                  <a:srgbClr val="655A78"/>
                </a:solidFill>
                <a:latin typeface="Tahoma"/>
                <a:ea typeface="Tahoma"/>
                <a:cs typeface="Tahoma"/>
              </a:defRPr>
            </a:defPPr>
          </a:lstStyle>
          <a:p xmlns:a="http://schemas.openxmlformats.org/drawingml/2006/main">
            <a:pPr algn="r" rtl="1">
              <a:defRPr sz="2025" b="0">
                <a:solidFill>
                  <a:srgbClr val="655A78"/>
                </a:solidFill>
                <a:latin typeface="Tahoma"/>
                <a:ea typeface="Tahoma"/>
                <a:cs typeface="Tahoma"/>
              </a:defRPr>
            </a:pPr>
            <a:r>
              <a:rPr sz="2025" b="0" lang="fa-IR">
                <a:solidFill>
                  <a:srgbClr val="655A78"/>
                </a:solidFill>
                <a:latin typeface="Tahoma"/>
                <a:ea typeface="Tahoma"/>
                <a:cs typeface="Tahoma"/>
              </a:rPr>
              <a:t>شناسهٔ سازمان و اسناد مجاز، خواندن داده و جست‌وجو را محدود می‌کنند.</a:t>
            </a:r>
          </a:p>
        </p:txBody>
      </p:sp>
    </p:spTree>
    <p:extLst>
      <p:ext uri="{BB962C8B-B14F-4D97-AF65-F5344CB8AC3E}">
        <p14:creationId xmlns:p14="http://schemas.microsoft.com/office/powerpoint/2010/main" val="1964387594"/>
      </p:ext>
    </p:extLst>
  </p:cSld>
</p:sld>
</file>

<file path=ppt/slides/slide12.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23DD256-B2B0-404A-90E1-F6C9815E9CDD}"/>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اتصال و همگام‌سازی منابع</a:t>
            </a:r>
          </a:p>
        </p:txBody>
      </p:sp>
      <p:sp>
        <p:nvSpPr>
          <p:cNvPr id="2" name="text-1">
            <a:extLst xmlns:a="http://schemas.openxmlformats.org/drawingml/2006/main">
              <a:ext uri="{FF2B5EF4-FFF2-40B4-BE49-F238E27FC236}">
                <a16:creationId xmlns:a16="http://schemas.microsoft.com/office/drawing/2014/main" id="{4813107D-52AD-44A2-8E98-701300C4679D}"/>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12</a:t>
            </a:r>
          </a:p>
        </p:txBody>
      </p:sp>
      <p:pic>
        <p:nvPicPr>
          <p:cNvPr id="3" name="">
            <a:extLst xmlns:a="http://schemas.openxmlformats.org/drawingml/2006/main">
              <a:ext uri="{FF2B5EF4-FFF2-40B4-BE49-F238E27FC236}">
                <a16:creationId xmlns:a16="http://schemas.microsoft.com/office/drawing/2014/main" id="{1E33F22C-AA51-4E58-A02B-CB674A1CB8BD}"/>
              </a:ext>
            </a:extLst>
          </p:cNvPr>
          <p:cNvPicPr>
            <a:picLocks xmlns:a="http://schemas.openxmlformats.org/drawingml/2006/main" noChangeAspect="1"/>
          </p:cNvPicPr>
          <p:nvPr/>
        </p:nvPicPr>
        <p:blipFill>
          <a:blip xmlns:r="http://schemas.openxmlformats.org/officeDocument/2006/relationships" xmlns:a="http://schemas.openxmlformats.org/drawingml/2006/main" r:embed="Ra34604d443cb4aae"/>
          <a:stretch xmlns:a="http://schemas.openxmlformats.org/drawingml/2006/main"/>
        </p:blipFill>
        <p:spPr>
          <a:xfrm xmlns:a="http://schemas.openxmlformats.org/drawingml/2006/main">
            <a:off x="730250" y="1543050"/>
            <a:ext cx="7874000" cy="44291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8E04ABE9-4102-44F6-BB63-E2B78D019EEB}"/>
              </a:ext>
            </a:extLst>
          </p:cNvPr>
          <p:cNvSpPr>
            <a:spLocks xmlns:a="http://schemas.openxmlformats.org/drawingml/2006/main" noGrp="1"/>
          </p:cNvSpPr>
          <p:nvPr/>
        </p:nvSpPr>
        <p:spPr>
          <a:xfrm xmlns:a="http://schemas.openxmlformats.org/drawingml/2006/main">
            <a:off x="9096375" y="1990725"/>
            <a:ext cx="24288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325" b="1">
                <a:solidFill>
                  <a:srgbClr val="FAF9FD"/>
                </a:solidFill>
                <a:latin typeface="Tahoma"/>
                <a:ea typeface="Tahoma"/>
                <a:cs typeface="Tahoma"/>
              </a:defRPr>
            </a:defPPr>
          </a:lstStyle>
          <a:p xmlns:a="http://schemas.openxmlformats.org/drawingml/2006/main">
            <a:pPr algn="r" rtl="1">
              <a:defRPr sz="2325" b="1">
                <a:solidFill>
                  <a:srgbClr val="FAF9FD"/>
                </a:solidFill>
                <a:latin typeface="Tahoma"/>
                <a:ea typeface="Tahoma"/>
                <a:cs typeface="Tahoma"/>
              </a:defRPr>
            </a:pPr>
            <a:r>
              <a:rPr sz="2325" b="1" lang="fa-IR">
                <a:solidFill>
                  <a:srgbClr val="FAF9FD"/>
                </a:solidFill>
                <a:latin typeface="Tahoma"/>
                <a:ea typeface="Tahoma"/>
                <a:cs typeface="Tahoma"/>
              </a:rPr>
              <a:t>محتوا فقط از فایل</a:t>
            </a:r>
          </a:p>
          <a:p xmlns:a="http://schemas.openxmlformats.org/drawingml/2006/main">
            <a:pPr algn="r" rtl="1">
              <a:defRPr sz="2325" b="1">
                <a:solidFill>
                  <a:srgbClr val="FAF9FD"/>
                </a:solidFill>
                <a:latin typeface="Tahoma"/>
                <a:ea typeface="Tahoma"/>
                <a:cs typeface="Tahoma"/>
              </a:defRPr>
            </a:pPr>
            <a:r>
              <a:rPr sz="2325" b="1" lang="fa-IR">
                <a:solidFill>
                  <a:srgbClr val="FAF9FD"/>
                </a:solidFill>
                <a:latin typeface="Tahoma"/>
                <a:ea typeface="Tahoma"/>
                <a:cs typeface="Tahoma"/>
              </a:rPr>
              <a:t>بارگذاری‌شده نمی‌آید.</a:t>
            </a:r>
          </a:p>
        </p:txBody>
      </p:sp>
      <p:sp>
        <p:nvSpPr>
          <p:cNvPr id="5" name="text-3">
            <a:extLst xmlns:a="http://schemas.openxmlformats.org/drawingml/2006/main">
              <a:ext uri="{FF2B5EF4-FFF2-40B4-BE49-F238E27FC236}">
                <a16:creationId xmlns:a16="http://schemas.microsoft.com/office/drawing/2014/main" id="{3B82BAE2-EB82-438D-8C11-A106264B0D68}"/>
              </a:ext>
            </a:extLst>
          </p:cNvPr>
          <p:cNvSpPr>
            <a:spLocks xmlns:a="http://schemas.openxmlformats.org/drawingml/2006/main" noGrp="1"/>
          </p:cNvSpPr>
          <p:nvPr/>
        </p:nvSpPr>
        <p:spPr>
          <a:xfrm xmlns:a="http://schemas.openxmlformats.org/drawingml/2006/main">
            <a:off x="9096375" y="4010025"/>
            <a:ext cx="24288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زمان‌بندی همگام‌سازی و صف پردازش، منابع متصل را وارد مسیر دانش می‌کنند.</a:t>
            </a:r>
          </a:p>
        </p:txBody>
      </p:sp>
    </p:spTree>
    <p:extLst>
      <p:ext uri="{BB962C8B-B14F-4D97-AF65-F5344CB8AC3E}">
        <p14:creationId xmlns:p14="http://schemas.microsoft.com/office/powerpoint/2010/main" val="1104308482"/>
      </p:ext>
    </p:extLst>
  </p:cSld>
</p:sld>
</file>

<file path=ppt/slides/slide13.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7D76229E-0CBD-466D-B0EA-A6C87056E00F}"/>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فناوری‌ها و مسئولیت هر لایه</a:t>
            </a:r>
          </a:p>
        </p:txBody>
      </p:sp>
      <p:sp>
        <p:nvSpPr>
          <p:cNvPr id="2" name="text-1">
            <a:extLst xmlns:a="http://schemas.openxmlformats.org/drawingml/2006/main">
              <a:ext uri="{FF2B5EF4-FFF2-40B4-BE49-F238E27FC236}">
                <a16:creationId xmlns:a16="http://schemas.microsoft.com/office/drawing/2014/main" id="{1118EC6F-E06F-4B7B-9A9E-6A8D40A3F141}"/>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13</a:t>
            </a:r>
          </a:p>
        </p:txBody>
      </p:sp>
      <p:sp>
        <p:nvSpPr>
          <p:cNvPr id="3" name="text-2">
            <a:extLst xmlns:a="http://schemas.openxmlformats.org/drawingml/2006/main">
              <a:ext uri="{FF2B5EF4-FFF2-40B4-BE49-F238E27FC236}">
                <a16:creationId xmlns:a16="http://schemas.microsoft.com/office/drawing/2014/main" id="{7CDE011E-2BF9-4B32-99C2-9B87B6CB9CEE}"/>
              </a:ext>
            </a:extLst>
          </p:cNvPr>
          <p:cNvSpPr>
            <a:spLocks xmlns:a="http://schemas.openxmlformats.org/drawingml/2006/main" noGrp="1"/>
          </p:cNvSpPr>
          <p:nvPr/>
        </p:nvSpPr>
        <p:spPr>
          <a:xfrm xmlns:a="http://schemas.openxmlformats.org/drawingml/2006/main">
            <a:off x="6667500" y="17049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B86E1"/>
                </a:solidFill>
                <a:latin typeface="Tahoma"/>
                <a:ea typeface="Tahoma"/>
                <a:cs typeface="Tahoma"/>
              </a:defRPr>
            </a:defPPr>
          </a:lstStyle>
          <a:p xmlns:a="http://schemas.openxmlformats.org/drawingml/2006/main">
            <a:pPr algn="l" rtl="1">
              <a:defRPr sz="2250" b="1">
                <a:solidFill>
                  <a:srgbClr val="9B86E1"/>
                </a:solidFill>
                <a:latin typeface="Tahoma"/>
                <a:ea typeface="Tahoma"/>
                <a:cs typeface="Tahoma"/>
              </a:defRPr>
            </a:pPr>
            <a:r>
              <a:rPr sz="2250" b="1" lang="fa-IR">
                <a:solidFill>
                  <a:srgbClr val="9B86E1"/>
                </a:solidFill>
                <a:latin typeface="Tahoma"/>
                <a:ea typeface="Tahoma"/>
                <a:cs typeface="Tahoma"/>
              </a:rPr>
              <a:t>React + TypeScript</a:t>
            </a:r>
          </a:p>
        </p:txBody>
      </p:sp>
      <p:sp>
        <p:nvSpPr>
          <p:cNvPr id="4" name="text-3">
            <a:extLst xmlns:a="http://schemas.openxmlformats.org/drawingml/2006/main">
              <a:ext uri="{FF2B5EF4-FFF2-40B4-BE49-F238E27FC236}">
                <a16:creationId xmlns:a16="http://schemas.microsoft.com/office/drawing/2014/main" id="{8A472CFB-CCB6-4E9B-BF18-F77270E3622C}"/>
              </a:ext>
            </a:extLst>
          </p:cNvPr>
          <p:cNvSpPr>
            <a:spLocks xmlns:a="http://schemas.openxmlformats.org/drawingml/2006/main" noGrp="1"/>
          </p:cNvSpPr>
          <p:nvPr/>
        </p:nvSpPr>
        <p:spPr>
          <a:xfrm xmlns:a="http://schemas.openxmlformats.org/drawingml/2006/main">
            <a:off x="6667500" y="22574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B8B0CC"/>
                </a:solidFill>
                <a:latin typeface="Tahoma"/>
                <a:ea typeface="Tahoma"/>
                <a:cs typeface="Tahoma"/>
              </a:defRPr>
            </a:defPPr>
          </a:lstStyle>
          <a:p xmlns:a="http://schemas.openxmlformats.org/drawingml/2006/main">
            <a:pPr algn="r" rtl="1">
              <a:defRPr sz="1800" b="0">
                <a:solidFill>
                  <a:srgbClr val="B8B0CC"/>
                </a:solidFill>
                <a:latin typeface="Tahoma"/>
                <a:ea typeface="Tahoma"/>
                <a:cs typeface="Tahoma"/>
              </a:defRPr>
            </a:pPr>
            <a:r>
              <a:rPr sz="1800" b="0" lang="fa-IR">
                <a:solidFill>
                  <a:srgbClr val="B8B0CC"/>
                </a:solidFill>
                <a:latin typeface="Tahoma"/>
                <a:ea typeface="Tahoma"/>
                <a:cs typeface="Tahoma"/>
              </a:rPr>
              <a:t>رابط وب، زبان فارسی و انگلیسی</a:t>
            </a:r>
          </a:p>
        </p:txBody>
      </p:sp>
      <p:sp>
        <p:nvSpPr>
          <p:cNvPr id="5" name="text-4">
            <a:extLst xmlns:a="http://schemas.openxmlformats.org/drawingml/2006/main">
              <a:ext uri="{FF2B5EF4-FFF2-40B4-BE49-F238E27FC236}">
                <a16:creationId xmlns:a16="http://schemas.microsoft.com/office/drawing/2014/main" id="{740ADB89-38D0-4C6A-B5A8-CBF107C9B9EB}"/>
              </a:ext>
            </a:extLst>
          </p:cNvPr>
          <p:cNvSpPr>
            <a:spLocks xmlns:a="http://schemas.openxmlformats.org/drawingml/2006/main" noGrp="1"/>
          </p:cNvSpPr>
          <p:nvPr/>
        </p:nvSpPr>
        <p:spPr>
          <a:xfrm xmlns:a="http://schemas.openxmlformats.org/drawingml/2006/main">
            <a:off x="619125" y="17049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B86E1"/>
                </a:solidFill>
                <a:latin typeface="Tahoma"/>
                <a:ea typeface="Tahoma"/>
                <a:cs typeface="Tahoma"/>
              </a:defRPr>
            </a:defPPr>
          </a:lstStyle>
          <a:p xmlns:a="http://schemas.openxmlformats.org/drawingml/2006/main">
            <a:pPr algn="l" rtl="1">
              <a:defRPr sz="2250" b="1">
                <a:solidFill>
                  <a:srgbClr val="9B86E1"/>
                </a:solidFill>
                <a:latin typeface="Tahoma"/>
                <a:ea typeface="Tahoma"/>
                <a:cs typeface="Tahoma"/>
              </a:defRPr>
            </a:pPr>
            <a:r>
              <a:rPr sz="2250" b="1" lang="fa-IR">
                <a:solidFill>
                  <a:srgbClr val="9B86E1"/>
                </a:solidFill>
                <a:latin typeface="Tahoma"/>
                <a:ea typeface="Tahoma"/>
                <a:cs typeface="Tahoma"/>
              </a:rPr>
              <a:t>FastAPI</a:t>
            </a:r>
          </a:p>
        </p:txBody>
      </p:sp>
      <p:sp>
        <p:nvSpPr>
          <p:cNvPr id="6" name="text-5">
            <a:extLst xmlns:a="http://schemas.openxmlformats.org/drawingml/2006/main">
              <a:ext uri="{FF2B5EF4-FFF2-40B4-BE49-F238E27FC236}">
                <a16:creationId xmlns:a16="http://schemas.microsoft.com/office/drawing/2014/main" id="{72C1EE3D-F2D2-453E-8BBA-80198EC0F15B}"/>
              </a:ext>
            </a:extLst>
          </p:cNvPr>
          <p:cNvSpPr>
            <a:spLocks xmlns:a="http://schemas.openxmlformats.org/drawingml/2006/main" noGrp="1"/>
          </p:cNvSpPr>
          <p:nvPr/>
        </p:nvSpPr>
        <p:spPr>
          <a:xfrm xmlns:a="http://schemas.openxmlformats.org/drawingml/2006/main">
            <a:off x="619125" y="22574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B8B0CC"/>
                </a:solidFill>
                <a:latin typeface="Tahoma"/>
                <a:ea typeface="Tahoma"/>
                <a:cs typeface="Tahoma"/>
              </a:defRPr>
            </a:defPPr>
          </a:lstStyle>
          <a:p xmlns:a="http://schemas.openxmlformats.org/drawingml/2006/main">
            <a:pPr algn="r" rtl="1">
              <a:defRPr sz="1800" b="0">
                <a:solidFill>
                  <a:srgbClr val="B8B0CC"/>
                </a:solidFill>
                <a:latin typeface="Tahoma"/>
                <a:ea typeface="Tahoma"/>
                <a:cs typeface="Tahoma"/>
              </a:defRPr>
            </a:pPr>
            <a:r>
              <a:rPr sz="1800" b="0" lang="fa-IR">
                <a:solidFill>
                  <a:srgbClr val="B8B0CC"/>
                </a:solidFill>
                <a:latin typeface="Tahoma"/>
                <a:ea typeface="Tahoma"/>
                <a:cs typeface="Tahoma"/>
              </a:rPr>
              <a:t>API، نشست و کنترل دسترسی</a:t>
            </a:r>
          </a:p>
        </p:txBody>
      </p:sp>
      <p:sp>
        <p:nvSpPr>
          <p:cNvPr id="7" name="text-6">
            <a:extLst xmlns:a="http://schemas.openxmlformats.org/drawingml/2006/main">
              <a:ext uri="{FF2B5EF4-FFF2-40B4-BE49-F238E27FC236}">
                <a16:creationId xmlns:a16="http://schemas.microsoft.com/office/drawing/2014/main" id="{41A680AE-1213-481B-8BC2-AD2C4CDCFAA7}"/>
              </a:ext>
            </a:extLst>
          </p:cNvPr>
          <p:cNvSpPr>
            <a:spLocks xmlns:a="http://schemas.openxmlformats.org/drawingml/2006/main" noGrp="1"/>
          </p:cNvSpPr>
          <p:nvPr/>
        </p:nvSpPr>
        <p:spPr>
          <a:xfrm xmlns:a="http://schemas.openxmlformats.org/drawingml/2006/main">
            <a:off x="6667500" y="31527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B86E1"/>
                </a:solidFill>
                <a:latin typeface="Tahoma"/>
                <a:ea typeface="Tahoma"/>
                <a:cs typeface="Tahoma"/>
              </a:defRPr>
            </a:defPPr>
          </a:lstStyle>
          <a:p xmlns:a="http://schemas.openxmlformats.org/drawingml/2006/main">
            <a:pPr algn="l" rtl="1">
              <a:defRPr sz="2250" b="1">
                <a:solidFill>
                  <a:srgbClr val="9B86E1"/>
                </a:solidFill>
                <a:latin typeface="Tahoma"/>
                <a:ea typeface="Tahoma"/>
                <a:cs typeface="Tahoma"/>
              </a:defRPr>
            </a:pPr>
            <a:r>
              <a:rPr sz="2250" b="1" lang="fa-IR">
                <a:solidFill>
                  <a:srgbClr val="9B86E1"/>
                </a:solidFill>
                <a:latin typeface="Tahoma"/>
                <a:ea typeface="Tahoma"/>
                <a:cs typeface="Tahoma"/>
              </a:rPr>
              <a:t>PostgreSQL</a:t>
            </a:r>
          </a:p>
        </p:txBody>
      </p:sp>
      <p:sp>
        <p:nvSpPr>
          <p:cNvPr id="8" name="text-7">
            <a:extLst xmlns:a="http://schemas.openxmlformats.org/drawingml/2006/main">
              <a:ext uri="{FF2B5EF4-FFF2-40B4-BE49-F238E27FC236}">
                <a16:creationId xmlns:a16="http://schemas.microsoft.com/office/drawing/2014/main" id="{A1F9C1FD-B788-4216-BC6A-80EA8C6FACA8}"/>
              </a:ext>
            </a:extLst>
          </p:cNvPr>
          <p:cNvSpPr>
            <a:spLocks xmlns:a="http://schemas.openxmlformats.org/drawingml/2006/main" noGrp="1"/>
          </p:cNvSpPr>
          <p:nvPr/>
        </p:nvSpPr>
        <p:spPr>
          <a:xfrm xmlns:a="http://schemas.openxmlformats.org/drawingml/2006/main">
            <a:off x="6667500" y="37052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B8B0CC"/>
                </a:solidFill>
                <a:latin typeface="Tahoma"/>
                <a:ea typeface="Tahoma"/>
                <a:cs typeface="Tahoma"/>
              </a:defRPr>
            </a:defPPr>
          </a:lstStyle>
          <a:p xmlns:a="http://schemas.openxmlformats.org/drawingml/2006/main">
            <a:pPr algn="r" rtl="1">
              <a:defRPr sz="1800" b="0">
                <a:solidFill>
                  <a:srgbClr val="B8B0CC"/>
                </a:solidFill>
                <a:latin typeface="Tahoma"/>
                <a:ea typeface="Tahoma"/>
                <a:cs typeface="Tahoma"/>
              </a:defRPr>
            </a:pPr>
            <a:r>
              <a:rPr sz="1800" b="0" lang="fa-IR">
                <a:solidFill>
                  <a:srgbClr val="B8B0CC"/>
                </a:solidFill>
                <a:latin typeface="Tahoma"/>
                <a:ea typeface="Tahoma"/>
                <a:cs typeface="Tahoma"/>
              </a:rPr>
              <a:t>دادهٔ سازمان، سند، گفتگو و کارها</a:t>
            </a:r>
          </a:p>
        </p:txBody>
      </p:sp>
      <p:sp>
        <p:nvSpPr>
          <p:cNvPr id="9" name="text-8">
            <a:extLst xmlns:a="http://schemas.openxmlformats.org/drawingml/2006/main">
              <a:ext uri="{FF2B5EF4-FFF2-40B4-BE49-F238E27FC236}">
                <a16:creationId xmlns:a16="http://schemas.microsoft.com/office/drawing/2014/main" id="{0F2CE856-0227-42C0-B319-8DE0287858CC}"/>
              </a:ext>
            </a:extLst>
          </p:cNvPr>
          <p:cNvSpPr>
            <a:spLocks xmlns:a="http://schemas.openxmlformats.org/drawingml/2006/main" noGrp="1"/>
          </p:cNvSpPr>
          <p:nvPr/>
        </p:nvSpPr>
        <p:spPr>
          <a:xfrm xmlns:a="http://schemas.openxmlformats.org/drawingml/2006/main">
            <a:off x="619125" y="31527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B86E1"/>
                </a:solidFill>
                <a:latin typeface="Tahoma"/>
                <a:ea typeface="Tahoma"/>
                <a:cs typeface="Tahoma"/>
              </a:defRPr>
            </a:defPPr>
          </a:lstStyle>
          <a:p xmlns:a="http://schemas.openxmlformats.org/drawingml/2006/main">
            <a:pPr algn="l" rtl="1">
              <a:defRPr sz="2250" b="1">
                <a:solidFill>
                  <a:srgbClr val="9B86E1"/>
                </a:solidFill>
                <a:latin typeface="Tahoma"/>
                <a:ea typeface="Tahoma"/>
                <a:cs typeface="Tahoma"/>
              </a:defRPr>
            </a:pPr>
            <a:r>
              <a:rPr sz="2250" b="1" lang="fa-IR">
                <a:solidFill>
                  <a:srgbClr val="9B86E1"/>
                </a:solidFill>
                <a:latin typeface="Tahoma"/>
                <a:ea typeface="Tahoma"/>
                <a:cs typeface="Tahoma"/>
              </a:rPr>
              <a:t>Qdrant</a:t>
            </a:r>
          </a:p>
        </p:txBody>
      </p:sp>
      <p:sp>
        <p:nvSpPr>
          <p:cNvPr id="10" name="text-9">
            <a:extLst xmlns:a="http://schemas.openxmlformats.org/drawingml/2006/main">
              <a:ext uri="{FF2B5EF4-FFF2-40B4-BE49-F238E27FC236}">
                <a16:creationId xmlns:a16="http://schemas.microsoft.com/office/drawing/2014/main" id="{ABA4AB39-7870-44B3-A88B-BC477189EBCF}"/>
              </a:ext>
            </a:extLst>
          </p:cNvPr>
          <p:cNvSpPr>
            <a:spLocks xmlns:a="http://schemas.openxmlformats.org/drawingml/2006/main" noGrp="1"/>
          </p:cNvSpPr>
          <p:nvPr/>
        </p:nvSpPr>
        <p:spPr>
          <a:xfrm xmlns:a="http://schemas.openxmlformats.org/drawingml/2006/main">
            <a:off x="619125" y="37052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B8B0CC"/>
                </a:solidFill>
                <a:latin typeface="Tahoma"/>
                <a:ea typeface="Tahoma"/>
                <a:cs typeface="Tahoma"/>
              </a:defRPr>
            </a:defPPr>
          </a:lstStyle>
          <a:p xmlns:a="http://schemas.openxmlformats.org/drawingml/2006/main">
            <a:pPr algn="r" rtl="1">
              <a:defRPr sz="1800" b="0">
                <a:solidFill>
                  <a:srgbClr val="B8B0CC"/>
                </a:solidFill>
                <a:latin typeface="Tahoma"/>
                <a:ea typeface="Tahoma"/>
                <a:cs typeface="Tahoma"/>
              </a:defRPr>
            </a:pPr>
            <a:r>
              <a:rPr sz="1800" b="0" lang="fa-IR">
                <a:solidFill>
                  <a:srgbClr val="B8B0CC"/>
                </a:solidFill>
                <a:latin typeface="Tahoma"/>
                <a:ea typeface="Tahoma"/>
                <a:cs typeface="Tahoma"/>
              </a:rPr>
              <a:t>بازیابی قطعه‌های مرتبط</a:t>
            </a:r>
          </a:p>
        </p:txBody>
      </p:sp>
      <p:sp>
        <p:nvSpPr>
          <p:cNvPr id="11" name="text-10">
            <a:extLst xmlns:a="http://schemas.openxmlformats.org/drawingml/2006/main">
              <a:ext uri="{FF2B5EF4-FFF2-40B4-BE49-F238E27FC236}">
                <a16:creationId xmlns:a16="http://schemas.microsoft.com/office/drawing/2014/main" id="{AE1743BE-DCA3-47C2-B601-F7CC9153FEF6}"/>
              </a:ext>
            </a:extLst>
          </p:cNvPr>
          <p:cNvSpPr>
            <a:spLocks xmlns:a="http://schemas.openxmlformats.org/drawingml/2006/main" noGrp="1"/>
          </p:cNvSpPr>
          <p:nvPr/>
        </p:nvSpPr>
        <p:spPr>
          <a:xfrm xmlns:a="http://schemas.openxmlformats.org/drawingml/2006/main">
            <a:off x="6667500" y="46005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B86E1"/>
                </a:solidFill>
                <a:latin typeface="Tahoma"/>
                <a:ea typeface="Tahoma"/>
                <a:cs typeface="Tahoma"/>
              </a:defRPr>
            </a:defPPr>
          </a:lstStyle>
          <a:p xmlns:a="http://schemas.openxmlformats.org/drawingml/2006/main">
            <a:pPr algn="l" rtl="1">
              <a:defRPr sz="2250" b="1">
                <a:solidFill>
                  <a:srgbClr val="9B86E1"/>
                </a:solidFill>
                <a:latin typeface="Tahoma"/>
                <a:ea typeface="Tahoma"/>
                <a:cs typeface="Tahoma"/>
              </a:defRPr>
            </a:pPr>
            <a:r>
              <a:rPr sz="2250" b="1" lang="fa-IR">
                <a:solidFill>
                  <a:srgbClr val="9B86E1"/>
                </a:solidFill>
                <a:latin typeface="Tahoma"/>
                <a:ea typeface="Tahoma"/>
                <a:cs typeface="Tahoma"/>
              </a:rPr>
              <a:t>Document Worker</a:t>
            </a:r>
          </a:p>
        </p:txBody>
      </p:sp>
      <p:sp>
        <p:nvSpPr>
          <p:cNvPr id="12" name="text-11">
            <a:extLst xmlns:a="http://schemas.openxmlformats.org/drawingml/2006/main">
              <a:ext uri="{FF2B5EF4-FFF2-40B4-BE49-F238E27FC236}">
                <a16:creationId xmlns:a16="http://schemas.microsoft.com/office/drawing/2014/main" id="{2936279E-914F-4783-94AD-B0F738AAF1D7}"/>
              </a:ext>
            </a:extLst>
          </p:cNvPr>
          <p:cNvSpPr>
            <a:spLocks xmlns:a="http://schemas.openxmlformats.org/drawingml/2006/main" noGrp="1"/>
          </p:cNvSpPr>
          <p:nvPr/>
        </p:nvSpPr>
        <p:spPr>
          <a:xfrm xmlns:a="http://schemas.openxmlformats.org/drawingml/2006/main">
            <a:off x="6667500" y="51530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B8B0CC"/>
                </a:solidFill>
                <a:latin typeface="Tahoma"/>
                <a:ea typeface="Tahoma"/>
                <a:cs typeface="Tahoma"/>
              </a:defRPr>
            </a:defPPr>
          </a:lstStyle>
          <a:p xmlns:a="http://schemas.openxmlformats.org/drawingml/2006/main">
            <a:pPr algn="r" rtl="1">
              <a:defRPr sz="1800" b="0">
                <a:solidFill>
                  <a:srgbClr val="B8B0CC"/>
                </a:solidFill>
                <a:latin typeface="Tahoma"/>
                <a:ea typeface="Tahoma"/>
                <a:cs typeface="Tahoma"/>
              </a:defRPr>
            </a:pPr>
            <a:r>
              <a:rPr sz="1800" b="0" lang="fa-IR">
                <a:solidFill>
                  <a:srgbClr val="B8B0CC"/>
                </a:solidFill>
                <a:latin typeface="Tahoma"/>
                <a:ea typeface="Tahoma"/>
                <a:cs typeface="Tahoma"/>
              </a:rPr>
              <a:t>استخراج متن و ایندکس اسناد</a:t>
            </a:r>
          </a:p>
        </p:txBody>
      </p:sp>
      <p:sp>
        <p:nvSpPr>
          <p:cNvPr id="13" name="text-12">
            <a:extLst xmlns:a="http://schemas.openxmlformats.org/drawingml/2006/main">
              <a:ext uri="{FF2B5EF4-FFF2-40B4-BE49-F238E27FC236}">
                <a16:creationId xmlns:a16="http://schemas.microsoft.com/office/drawing/2014/main" id="{476F4187-D81A-4A5E-949E-A7403E994768}"/>
              </a:ext>
            </a:extLst>
          </p:cNvPr>
          <p:cNvSpPr>
            <a:spLocks xmlns:a="http://schemas.openxmlformats.org/drawingml/2006/main" noGrp="1"/>
          </p:cNvSpPr>
          <p:nvPr/>
        </p:nvSpPr>
        <p:spPr>
          <a:xfrm xmlns:a="http://schemas.openxmlformats.org/drawingml/2006/main">
            <a:off x="619125" y="46005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مدل زبانی سازگار</a:t>
            </a:r>
          </a:p>
        </p:txBody>
      </p:sp>
      <p:sp>
        <p:nvSpPr>
          <p:cNvPr id="14" name="text-13">
            <a:extLst xmlns:a="http://schemas.openxmlformats.org/drawingml/2006/main">
              <a:ext uri="{FF2B5EF4-FFF2-40B4-BE49-F238E27FC236}">
                <a16:creationId xmlns:a16="http://schemas.microsoft.com/office/drawing/2014/main" id="{4BB18D44-C7E7-4323-BF7B-AE1CE76E0F68}"/>
              </a:ext>
            </a:extLst>
          </p:cNvPr>
          <p:cNvSpPr>
            <a:spLocks xmlns:a="http://schemas.openxmlformats.org/drawingml/2006/main" noGrp="1"/>
          </p:cNvSpPr>
          <p:nvPr/>
        </p:nvSpPr>
        <p:spPr>
          <a:xfrm xmlns:a="http://schemas.openxmlformats.org/drawingml/2006/main">
            <a:off x="619125" y="51530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B8B0CC"/>
                </a:solidFill>
                <a:latin typeface="Tahoma"/>
                <a:ea typeface="Tahoma"/>
                <a:cs typeface="Tahoma"/>
              </a:defRPr>
            </a:defPPr>
          </a:lstStyle>
          <a:p xmlns:a="http://schemas.openxmlformats.org/drawingml/2006/main">
            <a:pPr algn="r" rtl="1">
              <a:defRPr sz="1800" b="0">
                <a:solidFill>
                  <a:srgbClr val="B8B0CC"/>
                </a:solidFill>
                <a:latin typeface="Tahoma"/>
                <a:ea typeface="Tahoma"/>
                <a:cs typeface="Tahoma"/>
              </a:defRPr>
            </a:pPr>
            <a:r>
              <a:rPr sz="1800" b="0" lang="fa-IR">
                <a:solidFill>
                  <a:srgbClr val="B8B0CC"/>
                </a:solidFill>
                <a:latin typeface="Tahoma"/>
                <a:ea typeface="Tahoma"/>
                <a:cs typeface="Tahoma"/>
              </a:rPr>
              <a:t>تولید پاسخ با زمینهٔ بازیابی‌شده</a:t>
            </a:r>
          </a:p>
        </p:txBody>
      </p:sp>
    </p:spTree>
    <p:extLst>
      <p:ext uri="{BB962C8B-B14F-4D97-AF65-F5344CB8AC3E}">
        <p14:creationId xmlns:p14="http://schemas.microsoft.com/office/powerpoint/2010/main" val="1939457677"/>
      </p:ext>
    </p:extLst>
  </p:cSld>
</p:sld>
</file>

<file path=ppt/slides/slide1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1E59F94-C984-47D5-AE24-35C11836CBE8}"/>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211B32"/>
                </a:solidFill>
                <a:latin typeface="Tahoma"/>
                <a:ea typeface="Tahoma"/>
                <a:cs typeface="Tahoma"/>
              </a:defRPr>
            </a:defPPr>
          </a:lstStyle>
          <a:p xmlns:a="http://schemas.openxmlformats.org/drawingml/2006/main">
            <a:pPr algn="r" rtl="1">
              <a:defRPr sz="3300" b="1">
                <a:solidFill>
                  <a:srgbClr val="211B32"/>
                </a:solidFill>
                <a:latin typeface="Tahoma"/>
                <a:ea typeface="Tahoma"/>
                <a:cs typeface="Tahoma"/>
              </a:defRPr>
            </a:pPr>
            <a:r>
              <a:rPr sz="3300" b="1" lang="fa-IR">
                <a:solidFill>
                  <a:srgbClr val="211B32"/>
                </a:solidFill>
                <a:latin typeface="Tahoma"/>
                <a:ea typeface="Tahoma"/>
                <a:cs typeface="Tahoma"/>
              </a:rPr>
              <a:t>آزمون و قابلیت نگهداری</a:t>
            </a:r>
          </a:p>
        </p:txBody>
      </p:sp>
      <p:sp>
        <p:nvSpPr>
          <p:cNvPr id="2" name="text-1">
            <a:extLst xmlns:a="http://schemas.openxmlformats.org/drawingml/2006/main">
              <a:ext uri="{FF2B5EF4-FFF2-40B4-BE49-F238E27FC236}">
                <a16:creationId xmlns:a16="http://schemas.microsoft.com/office/drawing/2014/main" id="{26C956D6-445F-4A5C-B319-98B285517541}"/>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777084"/>
                </a:solidFill>
                <a:latin typeface="Tahoma"/>
                <a:ea typeface="Tahoma"/>
                <a:cs typeface="Tahoma"/>
              </a:defRPr>
            </a:defPPr>
          </a:lstStyle>
          <a:p xmlns:a="http://schemas.openxmlformats.org/drawingml/2006/main">
            <a:pPr algn="l" rtl="1">
              <a:defRPr sz="1275" b="0">
                <a:solidFill>
                  <a:srgbClr val="777084"/>
                </a:solidFill>
                <a:latin typeface="Tahoma"/>
                <a:ea typeface="Tahoma"/>
                <a:cs typeface="Tahoma"/>
              </a:defRPr>
            </a:pPr>
            <a:r>
              <a:rPr sz="1275" b="0" lang="fa-IR">
                <a:solidFill>
                  <a:srgbClr val="777084"/>
                </a:solidFill>
                <a:latin typeface="Tahoma"/>
                <a:ea typeface="Tahoma"/>
                <a:cs typeface="Tahoma"/>
              </a:rPr>
              <a:t>14</a:t>
            </a:r>
          </a:p>
        </p:txBody>
      </p:sp>
      <p:sp>
        <p:nvSpPr>
          <p:cNvPr id="3" name="text-2">
            <a:extLst xmlns:a="http://schemas.openxmlformats.org/drawingml/2006/main">
              <a:ext uri="{FF2B5EF4-FFF2-40B4-BE49-F238E27FC236}">
                <a16:creationId xmlns:a16="http://schemas.microsoft.com/office/drawing/2014/main" id="{4433E034-84D9-4354-8147-066E46B3834F}"/>
              </a:ext>
            </a:extLst>
          </p:cNvPr>
          <p:cNvSpPr>
            <a:spLocks xmlns:a="http://schemas.openxmlformats.org/drawingml/2006/main" noGrp="1"/>
          </p:cNvSpPr>
          <p:nvPr/>
        </p:nvSpPr>
        <p:spPr>
          <a:xfrm xmlns:a="http://schemas.openxmlformats.org/drawingml/2006/main">
            <a:off x="6762750" y="17145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56379F"/>
                </a:solidFill>
                <a:latin typeface="Tahoma"/>
                <a:ea typeface="Tahoma"/>
                <a:cs typeface="Tahoma"/>
              </a:defRPr>
            </a:defPPr>
          </a:lstStyle>
          <a:p xmlns:a="http://schemas.openxmlformats.org/drawingml/2006/main">
            <a:pPr algn="r" rtl="1">
              <a:defRPr sz="2250" b="1">
                <a:solidFill>
                  <a:srgbClr val="56379F"/>
                </a:solidFill>
                <a:latin typeface="Tahoma"/>
                <a:ea typeface="Tahoma"/>
                <a:cs typeface="Tahoma"/>
              </a:defRPr>
            </a:pPr>
            <a:r>
              <a:rPr sz="2250" b="1" lang="fa-IR">
                <a:solidFill>
                  <a:srgbClr val="56379F"/>
                </a:solidFill>
                <a:latin typeface="Tahoma"/>
                <a:ea typeface="Tahoma"/>
                <a:cs typeface="Tahoma"/>
              </a:rPr>
              <a:t>آزمون منطق و سرویس‌ها</a:t>
            </a:r>
          </a:p>
        </p:txBody>
      </p:sp>
      <p:sp>
        <p:nvSpPr>
          <p:cNvPr id="4" name="text-3">
            <a:extLst xmlns:a="http://schemas.openxmlformats.org/drawingml/2006/main">
              <a:ext uri="{FF2B5EF4-FFF2-40B4-BE49-F238E27FC236}">
                <a16:creationId xmlns:a16="http://schemas.microsoft.com/office/drawing/2014/main" id="{DBD75CDD-87C8-45FB-8268-9F22686FC8D9}"/>
              </a:ext>
            </a:extLst>
          </p:cNvPr>
          <p:cNvSpPr>
            <a:spLocks xmlns:a="http://schemas.openxmlformats.org/drawingml/2006/main" noGrp="1"/>
          </p:cNvSpPr>
          <p:nvPr/>
        </p:nvSpPr>
        <p:spPr>
          <a:xfrm xmlns:a="http://schemas.openxmlformats.org/drawingml/2006/main">
            <a:off x="6762750" y="2333625"/>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11B32"/>
                </a:solidFill>
                <a:latin typeface="Tahoma"/>
                <a:ea typeface="Tahoma"/>
                <a:cs typeface="Tahoma"/>
              </a:defRPr>
            </a:defPPr>
          </a:lstStyle>
          <a:p xmlns:a="http://schemas.openxmlformats.org/drawingml/2006/main">
            <a:pPr algn="r" rtl="1">
              <a:defRPr sz="1875" b="0">
                <a:solidFill>
                  <a:srgbClr val="211B32"/>
                </a:solidFill>
                <a:latin typeface="Tahoma"/>
                <a:ea typeface="Tahoma"/>
                <a:cs typeface="Tahoma"/>
              </a:defRPr>
            </a:pPr>
            <a:r>
              <a:rPr sz="1875" b="0" lang="fa-IR">
                <a:solidFill>
                  <a:srgbClr val="211B32"/>
                </a:solidFill>
                <a:latin typeface="Tahoma"/>
                <a:ea typeface="Tahoma"/>
                <a:cs typeface="Tahoma"/>
              </a:rPr>
              <a:t>Pytest و Vitest برای رفتار سرویس‌ها، رابط و کنترل خطا.</a:t>
            </a:r>
          </a:p>
        </p:txBody>
      </p:sp>
      <p:sp>
        <p:nvSpPr>
          <p:cNvPr id="5" name="text-4">
            <a:extLst xmlns:a="http://schemas.openxmlformats.org/drawingml/2006/main">
              <a:ext uri="{FF2B5EF4-FFF2-40B4-BE49-F238E27FC236}">
                <a16:creationId xmlns:a16="http://schemas.microsoft.com/office/drawing/2014/main" id="{FF7B5C56-AC3C-4949-8ABD-F0400064E512}"/>
              </a:ext>
            </a:extLst>
          </p:cNvPr>
          <p:cNvSpPr>
            <a:spLocks xmlns:a="http://schemas.openxmlformats.org/drawingml/2006/main" noGrp="1"/>
          </p:cNvSpPr>
          <p:nvPr/>
        </p:nvSpPr>
        <p:spPr>
          <a:xfrm xmlns:a="http://schemas.openxmlformats.org/drawingml/2006/main">
            <a:off x="714375" y="17145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56379F"/>
                </a:solidFill>
                <a:latin typeface="Tahoma"/>
                <a:ea typeface="Tahoma"/>
                <a:cs typeface="Tahoma"/>
              </a:defRPr>
            </a:defPPr>
          </a:lstStyle>
          <a:p xmlns:a="http://schemas.openxmlformats.org/drawingml/2006/main">
            <a:pPr algn="r" rtl="1">
              <a:defRPr sz="2250" b="1">
                <a:solidFill>
                  <a:srgbClr val="56379F"/>
                </a:solidFill>
                <a:latin typeface="Tahoma"/>
                <a:ea typeface="Tahoma"/>
                <a:cs typeface="Tahoma"/>
              </a:defRPr>
            </a:pPr>
            <a:r>
              <a:rPr sz="2250" b="1" lang="fa-IR">
                <a:solidFill>
                  <a:srgbClr val="56379F"/>
                </a:solidFill>
                <a:latin typeface="Tahoma"/>
                <a:ea typeface="Tahoma"/>
                <a:cs typeface="Tahoma"/>
              </a:rPr>
              <a:t>آزمون مسیر کاربر</a:t>
            </a:r>
          </a:p>
        </p:txBody>
      </p:sp>
      <p:sp>
        <p:nvSpPr>
          <p:cNvPr id="6" name="text-5">
            <a:extLst xmlns:a="http://schemas.openxmlformats.org/drawingml/2006/main">
              <a:ext uri="{FF2B5EF4-FFF2-40B4-BE49-F238E27FC236}">
                <a16:creationId xmlns:a16="http://schemas.microsoft.com/office/drawing/2014/main" id="{451874F2-2261-40E1-A89E-7B8FCD30B55F}"/>
              </a:ext>
            </a:extLst>
          </p:cNvPr>
          <p:cNvSpPr>
            <a:spLocks xmlns:a="http://schemas.openxmlformats.org/drawingml/2006/main" noGrp="1"/>
          </p:cNvSpPr>
          <p:nvPr/>
        </p:nvSpPr>
        <p:spPr>
          <a:xfrm xmlns:a="http://schemas.openxmlformats.org/drawingml/2006/main">
            <a:off x="714375" y="2333625"/>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11B32"/>
                </a:solidFill>
                <a:latin typeface="Tahoma"/>
                <a:ea typeface="Tahoma"/>
                <a:cs typeface="Tahoma"/>
              </a:defRPr>
            </a:defPPr>
          </a:lstStyle>
          <a:p xmlns:a="http://schemas.openxmlformats.org/drawingml/2006/main">
            <a:pPr algn="r" rtl="1">
              <a:defRPr sz="1875" b="0">
                <a:solidFill>
                  <a:srgbClr val="211B32"/>
                </a:solidFill>
                <a:latin typeface="Tahoma"/>
                <a:ea typeface="Tahoma"/>
                <a:cs typeface="Tahoma"/>
              </a:defRPr>
            </a:pPr>
            <a:r>
              <a:rPr sz="1875" b="0" lang="fa-IR">
                <a:solidFill>
                  <a:srgbClr val="211B32"/>
                </a:solidFill>
                <a:latin typeface="Tahoma"/>
                <a:ea typeface="Tahoma"/>
                <a:cs typeface="Tahoma"/>
              </a:rPr>
              <a:t>Playwright برای ورود، بارگذاری، گفتگو و رفتار واکنش‌گرا.</a:t>
            </a:r>
          </a:p>
        </p:txBody>
      </p:sp>
      <p:sp>
        <p:nvSpPr>
          <p:cNvPr id="7" name="text-6">
            <a:extLst xmlns:a="http://schemas.openxmlformats.org/drawingml/2006/main">
              <a:ext uri="{FF2B5EF4-FFF2-40B4-BE49-F238E27FC236}">
                <a16:creationId xmlns:a16="http://schemas.microsoft.com/office/drawing/2014/main" id="{7F986700-B1A9-4DB1-A66C-AE074DC4DD73}"/>
              </a:ext>
            </a:extLst>
          </p:cNvPr>
          <p:cNvSpPr>
            <a:spLocks xmlns:a="http://schemas.openxmlformats.org/drawingml/2006/main" noGrp="1"/>
          </p:cNvSpPr>
          <p:nvPr/>
        </p:nvSpPr>
        <p:spPr>
          <a:xfrm xmlns:a="http://schemas.openxmlformats.org/drawingml/2006/main">
            <a:off x="952500" y="43624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700" b="1">
                <a:solidFill>
                  <a:srgbClr val="211B32"/>
                </a:solidFill>
                <a:latin typeface="Tahoma"/>
                <a:ea typeface="Tahoma"/>
                <a:cs typeface="Tahoma"/>
              </a:defRPr>
            </a:defPPr>
          </a:lstStyle>
          <a:p xmlns:a="http://schemas.openxmlformats.org/drawingml/2006/main">
            <a:pPr algn="r" rtl="1">
              <a:defRPr sz="2700" b="1">
                <a:solidFill>
                  <a:srgbClr val="211B32"/>
                </a:solidFill>
                <a:latin typeface="Tahoma"/>
                <a:ea typeface="Tahoma"/>
                <a:cs typeface="Tahoma"/>
              </a:defRPr>
            </a:pPr>
            <a:r>
              <a:rPr sz="2700" b="1" lang="fa-IR">
                <a:solidFill>
                  <a:srgbClr val="211B32"/>
                </a:solidFill>
                <a:latin typeface="Tahoma"/>
                <a:ea typeface="Tahoma"/>
                <a:cs typeface="Tahoma"/>
              </a:rPr>
              <a:t>بررسی خودکار تغییرات در GitHub Actions</a:t>
            </a:r>
          </a:p>
        </p:txBody>
      </p:sp>
      <p:sp>
        <p:nvSpPr>
          <p:cNvPr id="8" name="text-7">
            <a:extLst xmlns:a="http://schemas.openxmlformats.org/drawingml/2006/main">
              <a:ext uri="{FF2B5EF4-FFF2-40B4-BE49-F238E27FC236}">
                <a16:creationId xmlns:a16="http://schemas.microsoft.com/office/drawing/2014/main" id="{E5A01D23-BD74-42DC-8CA2-4EA3341374CC}"/>
              </a:ext>
            </a:extLst>
          </p:cNvPr>
          <p:cNvSpPr>
            <a:spLocks xmlns:a="http://schemas.openxmlformats.org/drawingml/2006/main" noGrp="1"/>
          </p:cNvSpPr>
          <p:nvPr/>
        </p:nvSpPr>
        <p:spPr>
          <a:xfrm xmlns:a="http://schemas.openxmlformats.org/drawingml/2006/main">
            <a:off x="1428750" y="53816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0">
                <a:solidFill>
                  <a:srgbClr val="655A78"/>
                </a:solidFill>
                <a:latin typeface="Tahoma"/>
                <a:ea typeface="Tahoma"/>
                <a:cs typeface="Tahoma"/>
              </a:defRPr>
            </a:defPPr>
          </a:lstStyle>
          <a:p xmlns:a="http://schemas.openxmlformats.org/drawingml/2006/main">
            <a:pPr algn="r" rtl="1">
              <a:defRPr sz="2025" b="0">
                <a:solidFill>
                  <a:srgbClr val="655A78"/>
                </a:solidFill>
                <a:latin typeface="Tahoma"/>
                <a:ea typeface="Tahoma"/>
                <a:cs typeface="Tahoma"/>
              </a:defRPr>
            </a:pPr>
            <a:r>
              <a:rPr sz="2025" b="0" lang="fa-IR">
                <a:solidFill>
                  <a:srgbClr val="655A78"/>
                </a:solidFill>
                <a:latin typeface="Tahoma"/>
                <a:ea typeface="Tahoma"/>
                <a:cs typeface="Tahoma"/>
              </a:rPr>
              <a:t>آزمون نرم‌افزار با سنجش کیفیت پاسخ مدل متفاوت است.</a:t>
            </a:r>
          </a:p>
        </p:txBody>
      </p:sp>
    </p:spTree>
    <p:extLst>
      <p:ext uri="{BB962C8B-B14F-4D97-AF65-F5344CB8AC3E}">
        <p14:creationId xmlns:p14="http://schemas.microsoft.com/office/powerpoint/2010/main" val="973276944"/>
      </p:ext>
    </p:extLst>
  </p:cSld>
</p:sld>
</file>

<file path=ppt/slides/slide15.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2C2F9DE-F8BB-4CE7-97F3-C30A571F1ADF}"/>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محدودیت‌های نسخهٔ فعلی</a:t>
            </a:r>
          </a:p>
        </p:txBody>
      </p:sp>
      <p:sp>
        <p:nvSpPr>
          <p:cNvPr id="2" name="text-1">
            <a:extLst xmlns:a="http://schemas.openxmlformats.org/drawingml/2006/main">
              <a:ext uri="{FF2B5EF4-FFF2-40B4-BE49-F238E27FC236}">
                <a16:creationId xmlns:a16="http://schemas.microsoft.com/office/drawing/2014/main" id="{C111272A-99CF-4894-9413-3F32A2C75E0E}"/>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15</a:t>
            </a:r>
          </a:p>
        </p:txBody>
      </p:sp>
      <p:sp>
        <p:nvSpPr>
          <p:cNvPr id="3" name="text-2">
            <a:extLst xmlns:a="http://schemas.openxmlformats.org/drawingml/2006/main">
              <a:ext uri="{FF2B5EF4-FFF2-40B4-BE49-F238E27FC236}">
                <a16:creationId xmlns:a16="http://schemas.microsoft.com/office/drawing/2014/main" id="{56A7CC73-1EDD-4466-BCD7-EF1A6BF3CA13}"/>
              </a:ext>
            </a:extLst>
          </p:cNvPr>
          <p:cNvSpPr>
            <a:spLocks xmlns:a="http://schemas.openxmlformats.org/drawingml/2006/main" noGrp="1"/>
          </p:cNvSpPr>
          <p:nvPr/>
        </p:nvSpPr>
        <p:spPr>
          <a:xfrm xmlns:a="http://schemas.openxmlformats.org/drawingml/2006/main">
            <a:off x="6762750" y="17145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کیفیت اسناد و بازیابی</a:t>
            </a:r>
          </a:p>
        </p:txBody>
      </p:sp>
      <p:sp>
        <p:nvSpPr>
          <p:cNvPr id="4" name="text-3">
            <a:extLst xmlns:a="http://schemas.openxmlformats.org/drawingml/2006/main">
              <a:ext uri="{FF2B5EF4-FFF2-40B4-BE49-F238E27FC236}">
                <a16:creationId xmlns:a16="http://schemas.microsoft.com/office/drawing/2014/main" id="{01D6A1E7-EF55-41C5-9442-10E1AE50DCD9}"/>
              </a:ext>
            </a:extLst>
          </p:cNvPr>
          <p:cNvSpPr>
            <a:spLocks xmlns:a="http://schemas.openxmlformats.org/drawingml/2006/main" noGrp="1"/>
          </p:cNvSpPr>
          <p:nvPr/>
        </p:nvSpPr>
        <p:spPr>
          <a:xfrm xmlns:a="http://schemas.openxmlformats.org/drawingml/2006/main">
            <a:off x="6762750" y="2333625"/>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پاسخ به پوشش اسناد و انتخاب قطعه‌های مرتبط وابسته است.</a:t>
            </a:r>
          </a:p>
        </p:txBody>
      </p:sp>
      <p:sp>
        <p:nvSpPr>
          <p:cNvPr id="5" name="text-4">
            <a:extLst xmlns:a="http://schemas.openxmlformats.org/drawingml/2006/main">
              <a:ext uri="{FF2B5EF4-FFF2-40B4-BE49-F238E27FC236}">
                <a16:creationId xmlns:a16="http://schemas.microsoft.com/office/drawing/2014/main" id="{D7266D76-FED7-4E18-AD4E-DEA3BA15445A}"/>
              </a:ext>
            </a:extLst>
          </p:cNvPr>
          <p:cNvSpPr>
            <a:spLocks xmlns:a="http://schemas.openxmlformats.org/drawingml/2006/main" noGrp="1"/>
          </p:cNvSpPr>
          <p:nvPr/>
        </p:nvSpPr>
        <p:spPr>
          <a:xfrm xmlns:a="http://schemas.openxmlformats.org/drawingml/2006/main">
            <a:off x="619125" y="17145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وابستگی به سرویس‌های خارجی</a:t>
            </a:r>
          </a:p>
        </p:txBody>
      </p:sp>
      <p:sp>
        <p:nvSpPr>
          <p:cNvPr id="6" name="text-5">
            <a:extLst xmlns:a="http://schemas.openxmlformats.org/drawingml/2006/main">
              <a:ext uri="{FF2B5EF4-FFF2-40B4-BE49-F238E27FC236}">
                <a16:creationId xmlns:a16="http://schemas.microsoft.com/office/drawing/2014/main" id="{AB3A7EC8-6C28-49D4-9EB7-20E274A458F0}"/>
              </a:ext>
            </a:extLst>
          </p:cNvPr>
          <p:cNvSpPr>
            <a:spLocks xmlns:a="http://schemas.openxmlformats.org/drawingml/2006/main" noGrp="1"/>
          </p:cNvSpPr>
          <p:nvPr/>
        </p:nvSpPr>
        <p:spPr>
          <a:xfrm xmlns:a="http://schemas.openxmlformats.org/drawingml/2006/main">
            <a:off x="619125" y="2333625"/>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مدل زبانی و OCR ابری ممکن است خطا، تأخیر یا محدودیت دسترسی داشته باشند.</a:t>
            </a:r>
          </a:p>
        </p:txBody>
      </p:sp>
      <p:sp>
        <p:nvSpPr>
          <p:cNvPr id="7" name="text-6">
            <a:extLst xmlns:a="http://schemas.openxmlformats.org/drawingml/2006/main">
              <a:ext uri="{FF2B5EF4-FFF2-40B4-BE49-F238E27FC236}">
                <a16:creationId xmlns:a16="http://schemas.microsoft.com/office/drawing/2014/main" id="{38608C23-44CC-4EAE-BEB2-FEE55805A31A}"/>
              </a:ext>
            </a:extLst>
          </p:cNvPr>
          <p:cNvSpPr>
            <a:spLocks xmlns:a="http://schemas.openxmlformats.org/drawingml/2006/main" noGrp="1"/>
          </p:cNvSpPr>
          <p:nvPr/>
        </p:nvSpPr>
        <p:spPr>
          <a:xfrm xmlns:a="http://schemas.openxmlformats.org/drawingml/2006/main">
            <a:off x="6762750" y="4010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ارزیابی پاسخ‌ها</a:t>
            </a:r>
          </a:p>
        </p:txBody>
      </p:sp>
      <p:sp>
        <p:nvSpPr>
          <p:cNvPr id="8" name="text-7">
            <a:extLst xmlns:a="http://schemas.openxmlformats.org/drawingml/2006/main">
              <a:ext uri="{FF2B5EF4-FFF2-40B4-BE49-F238E27FC236}">
                <a16:creationId xmlns:a16="http://schemas.microsoft.com/office/drawing/2014/main" id="{37A3578D-59A3-42D1-B991-1703806C3578}"/>
              </a:ext>
            </a:extLst>
          </p:cNvPr>
          <p:cNvSpPr>
            <a:spLocks xmlns:a="http://schemas.openxmlformats.org/drawingml/2006/main" noGrp="1"/>
          </p:cNvSpPr>
          <p:nvPr/>
        </p:nvSpPr>
        <p:spPr>
          <a:xfrm xmlns:a="http://schemas.openxmlformats.org/drawingml/2006/main">
            <a:off x="6762750" y="46291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برای ادعای دقت، مجموعهٔ آزمون و داوری مستقل لازم است.</a:t>
            </a:r>
          </a:p>
        </p:txBody>
      </p:sp>
      <p:sp>
        <p:nvSpPr>
          <p:cNvPr id="9" name="text-8">
            <a:extLst xmlns:a="http://schemas.openxmlformats.org/drawingml/2006/main">
              <a:ext uri="{FF2B5EF4-FFF2-40B4-BE49-F238E27FC236}">
                <a16:creationId xmlns:a16="http://schemas.microsoft.com/office/drawing/2014/main" id="{0EE938BE-2629-4D04-8101-576EF2E1FB18}"/>
              </a:ext>
            </a:extLst>
          </p:cNvPr>
          <p:cNvSpPr>
            <a:spLocks xmlns:a="http://schemas.openxmlformats.org/drawingml/2006/main" noGrp="1"/>
          </p:cNvSpPr>
          <p:nvPr/>
        </p:nvSpPr>
        <p:spPr>
          <a:xfrm xmlns:a="http://schemas.openxmlformats.org/drawingml/2006/main">
            <a:off x="619125" y="4010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1">
                <a:solidFill>
                  <a:srgbClr val="9B86E1"/>
                </a:solidFill>
                <a:latin typeface="Tahoma"/>
                <a:ea typeface="Tahoma"/>
                <a:cs typeface="Tahoma"/>
              </a:defRPr>
            </a:defPPr>
          </a:lstStyle>
          <a:p xmlns:a="http://schemas.openxmlformats.org/drawingml/2006/main">
            <a:pPr algn="r" rtl="1">
              <a:defRPr sz="2250" b="1">
                <a:solidFill>
                  <a:srgbClr val="9B86E1"/>
                </a:solidFill>
                <a:latin typeface="Tahoma"/>
                <a:ea typeface="Tahoma"/>
                <a:cs typeface="Tahoma"/>
              </a:defRPr>
            </a:pPr>
            <a:r>
              <a:rPr sz="2250" b="1" lang="fa-IR">
                <a:solidFill>
                  <a:srgbClr val="9B86E1"/>
                </a:solidFill>
                <a:latin typeface="Tahoma"/>
                <a:ea typeface="Tahoma"/>
                <a:cs typeface="Tahoma"/>
              </a:rPr>
              <a:t>حریم خصوصی محتوا</a:t>
            </a:r>
          </a:p>
        </p:txBody>
      </p:sp>
      <p:sp>
        <p:nvSpPr>
          <p:cNvPr id="10" name="text-9">
            <a:extLst xmlns:a="http://schemas.openxmlformats.org/drawingml/2006/main">
              <a:ext uri="{FF2B5EF4-FFF2-40B4-BE49-F238E27FC236}">
                <a16:creationId xmlns:a16="http://schemas.microsoft.com/office/drawing/2014/main" id="{439C40D4-D1F3-49A0-9193-8F3F7C0597E5}"/>
              </a:ext>
            </a:extLst>
          </p:cNvPr>
          <p:cNvSpPr>
            <a:spLocks xmlns:a="http://schemas.openxmlformats.org/drawingml/2006/main" noGrp="1"/>
          </p:cNvSpPr>
          <p:nvPr/>
        </p:nvSpPr>
        <p:spPr>
          <a:xfrm xmlns:a="http://schemas.openxmlformats.org/drawingml/2006/main">
            <a:off x="619125" y="462915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B8B0CC"/>
                </a:solidFill>
                <a:latin typeface="Tahoma"/>
                <a:ea typeface="Tahoma"/>
                <a:cs typeface="Tahoma"/>
              </a:defRPr>
            </a:defPPr>
          </a:lstStyle>
          <a:p xmlns:a="http://schemas.openxmlformats.org/drawingml/2006/main">
            <a:pPr algn="r" rtl="1">
              <a:defRPr sz="1875" b="0">
                <a:solidFill>
                  <a:srgbClr val="B8B0CC"/>
                </a:solidFill>
                <a:latin typeface="Tahoma"/>
                <a:ea typeface="Tahoma"/>
                <a:cs typeface="Tahoma"/>
              </a:defRPr>
            </a:pPr>
            <a:r>
              <a:rPr sz="1875" b="0" lang="fa-IR">
                <a:solidFill>
                  <a:srgbClr val="B8B0CC"/>
                </a:solidFill>
                <a:latin typeface="Tahoma"/>
                <a:ea typeface="Tahoma"/>
                <a:cs typeface="Tahoma"/>
              </a:rPr>
              <a:t>فعال‌سازی پردازش ابری به بررسی مجوز ارسال سند نیاز دارد.</a:t>
            </a:r>
          </a:p>
        </p:txBody>
      </p:sp>
    </p:spTree>
    <p:extLst>
      <p:ext uri="{BB962C8B-B14F-4D97-AF65-F5344CB8AC3E}">
        <p14:creationId xmlns:p14="http://schemas.microsoft.com/office/powerpoint/2010/main" val="100146072"/>
      </p:ext>
    </p:extLst>
  </p:cSld>
</p:sld>
</file>

<file path=ppt/slides/slide16.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459FB11-5A6D-4162-AD9F-F784F6C67C8F}"/>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سناریوی نمایش به استاد</a:t>
            </a:r>
          </a:p>
        </p:txBody>
      </p:sp>
      <p:sp>
        <p:nvSpPr>
          <p:cNvPr id="2" name="text-1">
            <a:extLst xmlns:a="http://schemas.openxmlformats.org/drawingml/2006/main">
              <a:ext uri="{FF2B5EF4-FFF2-40B4-BE49-F238E27FC236}">
                <a16:creationId xmlns:a16="http://schemas.microsoft.com/office/drawing/2014/main" id="{AFDF0BA9-F8B7-4C01-B0AC-779751A2EE92}"/>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16</a:t>
            </a:r>
          </a:p>
        </p:txBody>
      </p:sp>
      <p:sp>
        <p:nvSpPr>
          <p:cNvPr id="3" name="text-2">
            <a:extLst xmlns:a="http://schemas.openxmlformats.org/drawingml/2006/main">
              <a:ext uri="{FF2B5EF4-FFF2-40B4-BE49-F238E27FC236}">
                <a16:creationId xmlns:a16="http://schemas.microsoft.com/office/drawing/2014/main" id="{336A2A28-4368-4748-9A39-DBE1FEEA2D81}"/>
              </a:ext>
            </a:extLst>
          </p:cNvPr>
          <p:cNvSpPr>
            <a:spLocks xmlns:a="http://schemas.openxmlformats.org/drawingml/2006/main" noGrp="1"/>
          </p:cNvSpPr>
          <p:nvPr/>
        </p:nvSpPr>
        <p:spPr>
          <a:xfrm xmlns:a="http://schemas.openxmlformats.org/drawingml/2006/main">
            <a:off x="10477500" y="16859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075" b="1">
                <a:solidFill>
                  <a:srgbClr val="9B86E1"/>
                </a:solidFill>
                <a:latin typeface="Tahoma"/>
                <a:ea typeface="Tahoma"/>
                <a:cs typeface="Tahoma"/>
              </a:defRPr>
            </a:defPPr>
          </a:lstStyle>
          <a:p xmlns:a="http://schemas.openxmlformats.org/drawingml/2006/main">
            <a:pPr algn="r" rtl="1">
              <a:defRPr sz="3075" b="1">
                <a:solidFill>
                  <a:srgbClr val="9B86E1"/>
                </a:solidFill>
                <a:latin typeface="Tahoma"/>
                <a:ea typeface="Tahoma"/>
                <a:cs typeface="Tahoma"/>
              </a:defRPr>
            </a:pPr>
            <a:r>
              <a:rPr sz="3075" b="1" lang="fa-IR">
                <a:solidFill>
                  <a:srgbClr val="9B86E1"/>
                </a:solidFill>
                <a:latin typeface="Tahoma"/>
                <a:ea typeface="Tahoma"/>
                <a:cs typeface="Tahoma"/>
              </a:rPr>
              <a:t>۱</a:t>
            </a:r>
          </a:p>
        </p:txBody>
      </p:sp>
      <p:sp>
        <p:nvSpPr>
          <p:cNvPr id="4" name="text-3">
            <a:extLst xmlns:a="http://schemas.openxmlformats.org/drawingml/2006/main">
              <a:ext uri="{FF2B5EF4-FFF2-40B4-BE49-F238E27FC236}">
                <a16:creationId xmlns:a16="http://schemas.microsoft.com/office/drawing/2014/main" id="{9637EEF2-F624-4C27-91CA-2CD3E05B4DE6}"/>
              </a:ext>
            </a:extLst>
          </p:cNvPr>
          <p:cNvSpPr>
            <a:spLocks xmlns:a="http://schemas.openxmlformats.org/drawingml/2006/main" noGrp="1"/>
          </p:cNvSpPr>
          <p:nvPr/>
        </p:nvSpPr>
        <p:spPr>
          <a:xfrm xmlns:a="http://schemas.openxmlformats.org/drawingml/2006/main">
            <a:off x="1095375" y="1771650"/>
            <a:ext cx="890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0">
                <a:solidFill>
                  <a:srgbClr val="FAF9FD"/>
                </a:solidFill>
                <a:latin typeface="Tahoma"/>
                <a:ea typeface="Tahoma"/>
                <a:cs typeface="Tahoma"/>
              </a:defRPr>
            </a:defPPr>
          </a:lstStyle>
          <a:p xmlns:a="http://schemas.openxmlformats.org/drawingml/2006/main">
            <a:pPr algn="r" rtl="1">
              <a:defRPr sz="2250" b="0">
                <a:solidFill>
                  <a:srgbClr val="FAF9FD"/>
                </a:solidFill>
                <a:latin typeface="Tahoma"/>
                <a:ea typeface="Tahoma"/>
                <a:cs typeface="Tahoma"/>
              </a:defRPr>
            </a:pPr>
            <a:r>
              <a:rPr sz="2250" b="0" lang="fa-IR">
                <a:solidFill>
                  <a:srgbClr val="FAF9FD"/>
                </a:solidFill>
                <a:latin typeface="Tahoma"/>
                <a:ea typeface="Tahoma"/>
                <a:cs typeface="Tahoma"/>
              </a:rPr>
              <a:t>انتخاب مجموعهٔ دانش و مشاهدهٔ سند آماده</a:t>
            </a:r>
          </a:p>
        </p:txBody>
      </p:sp>
      <p:sp>
        <p:nvSpPr>
          <p:cNvPr id="5" name="text-4">
            <a:extLst xmlns:a="http://schemas.openxmlformats.org/drawingml/2006/main">
              <a:ext uri="{FF2B5EF4-FFF2-40B4-BE49-F238E27FC236}">
                <a16:creationId xmlns:a16="http://schemas.microsoft.com/office/drawing/2014/main" id="{6BFDEEEE-3FEB-4AA8-8D8E-7D118830A878}"/>
              </a:ext>
            </a:extLst>
          </p:cNvPr>
          <p:cNvSpPr>
            <a:spLocks xmlns:a="http://schemas.openxmlformats.org/drawingml/2006/main" noGrp="1"/>
          </p:cNvSpPr>
          <p:nvPr/>
        </p:nvSpPr>
        <p:spPr>
          <a:xfrm xmlns:a="http://schemas.openxmlformats.org/drawingml/2006/main">
            <a:off x="10477500" y="26670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075" b="1">
                <a:solidFill>
                  <a:srgbClr val="9B86E1"/>
                </a:solidFill>
                <a:latin typeface="Tahoma"/>
                <a:ea typeface="Tahoma"/>
                <a:cs typeface="Tahoma"/>
              </a:defRPr>
            </a:defPPr>
          </a:lstStyle>
          <a:p xmlns:a="http://schemas.openxmlformats.org/drawingml/2006/main">
            <a:pPr algn="r" rtl="1">
              <a:defRPr sz="3075" b="1">
                <a:solidFill>
                  <a:srgbClr val="9B86E1"/>
                </a:solidFill>
                <a:latin typeface="Tahoma"/>
                <a:ea typeface="Tahoma"/>
                <a:cs typeface="Tahoma"/>
              </a:defRPr>
            </a:pPr>
            <a:r>
              <a:rPr sz="3075" b="1" lang="fa-IR">
                <a:solidFill>
                  <a:srgbClr val="9B86E1"/>
                </a:solidFill>
                <a:latin typeface="Tahoma"/>
                <a:ea typeface="Tahoma"/>
                <a:cs typeface="Tahoma"/>
              </a:rPr>
              <a:t>۲</a:t>
            </a:r>
          </a:p>
        </p:txBody>
      </p:sp>
      <p:sp>
        <p:nvSpPr>
          <p:cNvPr id="6" name="text-5">
            <a:extLst xmlns:a="http://schemas.openxmlformats.org/drawingml/2006/main">
              <a:ext uri="{FF2B5EF4-FFF2-40B4-BE49-F238E27FC236}">
                <a16:creationId xmlns:a16="http://schemas.microsoft.com/office/drawing/2014/main" id="{E244A6E8-5DB3-4219-85AB-AA7EE6FD3D5F}"/>
              </a:ext>
            </a:extLst>
          </p:cNvPr>
          <p:cNvSpPr>
            <a:spLocks xmlns:a="http://schemas.openxmlformats.org/drawingml/2006/main" noGrp="1"/>
          </p:cNvSpPr>
          <p:nvPr/>
        </p:nvSpPr>
        <p:spPr>
          <a:xfrm xmlns:a="http://schemas.openxmlformats.org/drawingml/2006/main">
            <a:off x="1095375" y="2752725"/>
            <a:ext cx="890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0">
                <a:solidFill>
                  <a:srgbClr val="FAF9FD"/>
                </a:solidFill>
                <a:latin typeface="Tahoma"/>
                <a:ea typeface="Tahoma"/>
                <a:cs typeface="Tahoma"/>
              </a:defRPr>
            </a:defPPr>
          </a:lstStyle>
          <a:p xmlns:a="http://schemas.openxmlformats.org/drawingml/2006/main">
            <a:pPr algn="r" rtl="1">
              <a:defRPr sz="2250" b="0">
                <a:solidFill>
                  <a:srgbClr val="FAF9FD"/>
                </a:solidFill>
                <a:latin typeface="Tahoma"/>
                <a:ea typeface="Tahoma"/>
                <a:cs typeface="Tahoma"/>
              </a:defRPr>
            </a:pPr>
            <a:r>
              <a:rPr sz="2250" b="0" lang="fa-IR">
                <a:solidFill>
                  <a:srgbClr val="FAF9FD"/>
                </a:solidFill>
                <a:latin typeface="Tahoma"/>
                <a:ea typeface="Tahoma"/>
                <a:cs typeface="Tahoma"/>
              </a:rPr>
              <a:t>پرسش با پاسخ مشخص در سند نمونه</a:t>
            </a:r>
          </a:p>
        </p:txBody>
      </p:sp>
      <p:sp>
        <p:nvSpPr>
          <p:cNvPr id="7" name="text-6">
            <a:extLst xmlns:a="http://schemas.openxmlformats.org/drawingml/2006/main">
              <a:ext uri="{FF2B5EF4-FFF2-40B4-BE49-F238E27FC236}">
                <a16:creationId xmlns:a16="http://schemas.microsoft.com/office/drawing/2014/main" id="{033A5332-DC9B-44DF-979C-39BF584A2C79}"/>
              </a:ext>
            </a:extLst>
          </p:cNvPr>
          <p:cNvSpPr>
            <a:spLocks xmlns:a="http://schemas.openxmlformats.org/drawingml/2006/main" noGrp="1"/>
          </p:cNvSpPr>
          <p:nvPr/>
        </p:nvSpPr>
        <p:spPr>
          <a:xfrm xmlns:a="http://schemas.openxmlformats.org/drawingml/2006/main">
            <a:off x="10477500" y="36480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075" b="1">
                <a:solidFill>
                  <a:srgbClr val="9B86E1"/>
                </a:solidFill>
                <a:latin typeface="Tahoma"/>
                <a:ea typeface="Tahoma"/>
                <a:cs typeface="Tahoma"/>
              </a:defRPr>
            </a:defPPr>
          </a:lstStyle>
          <a:p xmlns:a="http://schemas.openxmlformats.org/drawingml/2006/main">
            <a:pPr algn="r" rtl="1">
              <a:defRPr sz="3075" b="1">
                <a:solidFill>
                  <a:srgbClr val="9B86E1"/>
                </a:solidFill>
                <a:latin typeface="Tahoma"/>
                <a:ea typeface="Tahoma"/>
                <a:cs typeface="Tahoma"/>
              </a:defRPr>
            </a:pPr>
            <a:r>
              <a:rPr sz="3075" b="1" lang="fa-IR">
                <a:solidFill>
                  <a:srgbClr val="9B86E1"/>
                </a:solidFill>
                <a:latin typeface="Tahoma"/>
                <a:ea typeface="Tahoma"/>
                <a:cs typeface="Tahoma"/>
              </a:rPr>
              <a:t>۳</a:t>
            </a:r>
          </a:p>
        </p:txBody>
      </p:sp>
      <p:sp>
        <p:nvSpPr>
          <p:cNvPr id="8" name="text-7">
            <a:extLst xmlns:a="http://schemas.openxmlformats.org/drawingml/2006/main">
              <a:ext uri="{FF2B5EF4-FFF2-40B4-BE49-F238E27FC236}">
                <a16:creationId xmlns:a16="http://schemas.microsoft.com/office/drawing/2014/main" id="{8D2B454D-ABD9-4AC5-A97B-5E49A27E0B16}"/>
              </a:ext>
            </a:extLst>
          </p:cNvPr>
          <p:cNvSpPr>
            <a:spLocks xmlns:a="http://schemas.openxmlformats.org/drawingml/2006/main" noGrp="1"/>
          </p:cNvSpPr>
          <p:nvPr/>
        </p:nvSpPr>
        <p:spPr>
          <a:xfrm xmlns:a="http://schemas.openxmlformats.org/drawingml/2006/main">
            <a:off x="1095375" y="3733800"/>
            <a:ext cx="890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0">
                <a:solidFill>
                  <a:srgbClr val="FAF9FD"/>
                </a:solidFill>
                <a:latin typeface="Tahoma"/>
                <a:ea typeface="Tahoma"/>
                <a:cs typeface="Tahoma"/>
              </a:defRPr>
            </a:defPPr>
          </a:lstStyle>
          <a:p xmlns:a="http://schemas.openxmlformats.org/drawingml/2006/main">
            <a:pPr algn="r" rtl="1">
              <a:defRPr sz="2250" b="0">
                <a:solidFill>
                  <a:srgbClr val="FAF9FD"/>
                </a:solidFill>
                <a:latin typeface="Tahoma"/>
                <a:ea typeface="Tahoma"/>
                <a:cs typeface="Tahoma"/>
              </a:defRPr>
            </a:pPr>
            <a:r>
              <a:rPr sz="2250" b="0" lang="fa-IR">
                <a:solidFill>
                  <a:srgbClr val="FAF9FD"/>
                </a:solidFill>
                <a:latin typeface="Tahoma"/>
                <a:ea typeface="Tahoma"/>
                <a:cs typeface="Tahoma"/>
              </a:rPr>
              <a:t>بازکردن منبع و تطبیق پاسخ با متن</a:t>
            </a:r>
          </a:p>
        </p:txBody>
      </p:sp>
      <p:sp>
        <p:nvSpPr>
          <p:cNvPr id="9" name="text-8">
            <a:extLst xmlns:a="http://schemas.openxmlformats.org/drawingml/2006/main">
              <a:ext uri="{FF2B5EF4-FFF2-40B4-BE49-F238E27FC236}">
                <a16:creationId xmlns:a16="http://schemas.microsoft.com/office/drawing/2014/main" id="{AE03C7E6-94D4-4194-B3BC-467188D3D6D3}"/>
              </a:ext>
            </a:extLst>
          </p:cNvPr>
          <p:cNvSpPr>
            <a:spLocks xmlns:a="http://schemas.openxmlformats.org/drawingml/2006/main" noGrp="1"/>
          </p:cNvSpPr>
          <p:nvPr/>
        </p:nvSpPr>
        <p:spPr>
          <a:xfrm xmlns:a="http://schemas.openxmlformats.org/drawingml/2006/main">
            <a:off x="10477500" y="46291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075" b="1">
                <a:solidFill>
                  <a:srgbClr val="9B86E1"/>
                </a:solidFill>
                <a:latin typeface="Tahoma"/>
                <a:ea typeface="Tahoma"/>
                <a:cs typeface="Tahoma"/>
              </a:defRPr>
            </a:defPPr>
          </a:lstStyle>
          <a:p xmlns:a="http://schemas.openxmlformats.org/drawingml/2006/main">
            <a:pPr algn="r" rtl="1">
              <a:defRPr sz="3075" b="1">
                <a:solidFill>
                  <a:srgbClr val="9B86E1"/>
                </a:solidFill>
                <a:latin typeface="Tahoma"/>
                <a:ea typeface="Tahoma"/>
                <a:cs typeface="Tahoma"/>
              </a:defRPr>
            </a:pPr>
            <a:r>
              <a:rPr sz="3075" b="1" lang="fa-IR">
                <a:solidFill>
                  <a:srgbClr val="9B86E1"/>
                </a:solidFill>
                <a:latin typeface="Tahoma"/>
                <a:ea typeface="Tahoma"/>
                <a:cs typeface="Tahoma"/>
              </a:rPr>
              <a:t>۴</a:t>
            </a:r>
          </a:p>
        </p:txBody>
      </p:sp>
      <p:sp>
        <p:nvSpPr>
          <p:cNvPr id="10" name="text-9">
            <a:extLst xmlns:a="http://schemas.openxmlformats.org/drawingml/2006/main">
              <a:ext uri="{FF2B5EF4-FFF2-40B4-BE49-F238E27FC236}">
                <a16:creationId xmlns:a16="http://schemas.microsoft.com/office/drawing/2014/main" id="{B6D8BB29-543E-46E4-AED6-D0318440FEF6}"/>
              </a:ext>
            </a:extLst>
          </p:cNvPr>
          <p:cNvSpPr>
            <a:spLocks xmlns:a="http://schemas.openxmlformats.org/drawingml/2006/main" noGrp="1"/>
          </p:cNvSpPr>
          <p:nvPr/>
        </p:nvSpPr>
        <p:spPr>
          <a:xfrm xmlns:a="http://schemas.openxmlformats.org/drawingml/2006/main">
            <a:off x="1095375" y="4714875"/>
            <a:ext cx="890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250" b="0">
                <a:solidFill>
                  <a:srgbClr val="FAF9FD"/>
                </a:solidFill>
                <a:latin typeface="Tahoma"/>
                <a:ea typeface="Tahoma"/>
                <a:cs typeface="Tahoma"/>
              </a:defRPr>
            </a:defPPr>
          </a:lstStyle>
          <a:p xmlns:a="http://schemas.openxmlformats.org/drawingml/2006/main">
            <a:pPr algn="r" rtl="1">
              <a:defRPr sz="2250" b="0">
                <a:solidFill>
                  <a:srgbClr val="FAF9FD"/>
                </a:solidFill>
                <a:latin typeface="Tahoma"/>
                <a:ea typeface="Tahoma"/>
                <a:cs typeface="Tahoma"/>
              </a:defRPr>
            </a:pPr>
            <a:r>
              <a:rPr sz="2250" b="0" lang="fa-IR">
                <a:solidFill>
                  <a:srgbClr val="FAF9FD"/>
                </a:solidFill>
                <a:latin typeface="Tahoma"/>
                <a:ea typeface="Tahoma"/>
                <a:cs typeface="Tahoma"/>
              </a:rPr>
              <a:t>پرسش خارج از سند و بررسی وضعیت منابع</a:t>
            </a:r>
          </a:p>
        </p:txBody>
      </p:sp>
    </p:spTree>
    <p:extLst>
      <p:ext uri="{BB962C8B-B14F-4D97-AF65-F5344CB8AC3E}">
        <p14:creationId xmlns:p14="http://schemas.microsoft.com/office/powerpoint/2010/main" val="1961669381"/>
      </p:ext>
    </p:extLst>
  </p:cSld>
</p:sld>
</file>

<file path=ppt/slides/slide17.xml><?xml version="1.0" encoding="utf-8"?>
<p:sld xmlns:p="http://schemas.openxmlformats.org/presentationml/2006/main">
  <p:cSld>
    <p:bg>
      <p:bgPr>
        <a:gradFill xmlns:a="http://schemas.openxmlformats.org/drawingml/2006/main">
          <a:gsLst>
            <a:gs pos="0">
              <a:srgbClr val="0B0910"/>
            </a:gs>
            <a:gs pos="100000">
              <a:srgbClr val="211336"/>
            </a:gs>
          </a:gsLst>
          <a:lin ang="0"/>
        </a:gra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45CAE5B-5667-4171-A97B-AAF6343BB52F}"/>
              </a:ext>
            </a:extLst>
          </p:cNvPr>
          <p:cNvSpPr>
            <a:spLocks xmlns:a="http://schemas.openxmlformats.org/drawingml/2006/main" noGrp="1"/>
          </p:cNvSpPr>
          <p:nvPr/>
        </p:nvSpPr>
        <p:spPr>
          <a:xfrm xmlns:a="http://schemas.openxmlformats.org/drawingml/2006/main">
            <a:off x="619125" y="495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300" b="1">
                <a:solidFill>
                  <a:srgbClr val="FAF9FD"/>
                </a:solidFill>
                <a:latin typeface="Tahoma"/>
                <a:ea typeface="Tahoma"/>
                <a:cs typeface="Tahoma"/>
              </a:defRPr>
            </a:defPPr>
          </a:lstStyle>
          <a:p xmlns:a="http://schemas.openxmlformats.org/drawingml/2006/main">
            <a:pPr algn="r" rtl="1">
              <a:defRPr sz="3300" b="1">
                <a:solidFill>
                  <a:srgbClr val="FAF9FD"/>
                </a:solidFill>
                <a:latin typeface="Tahoma"/>
                <a:ea typeface="Tahoma"/>
                <a:cs typeface="Tahoma"/>
              </a:defRPr>
            </a:pPr>
            <a:r>
              <a:rPr sz="3300" b="1" lang="fa-IR">
                <a:solidFill>
                  <a:srgbClr val="FAF9FD"/>
                </a:solidFill>
                <a:latin typeface="Tahoma"/>
                <a:ea typeface="Tahoma"/>
                <a:cs typeface="Tahoma"/>
              </a:rPr>
              <a:t>مسیر توسعه و پرسش‌ها</a:t>
            </a:r>
          </a:p>
        </p:txBody>
      </p:sp>
      <p:sp>
        <p:nvSpPr>
          <p:cNvPr id="2" name="text-1">
            <a:extLst xmlns:a="http://schemas.openxmlformats.org/drawingml/2006/main">
              <a:ext uri="{FF2B5EF4-FFF2-40B4-BE49-F238E27FC236}">
                <a16:creationId xmlns:a16="http://schemas.microsoft.com/office/drawing/2014/main" id="{C275397F-0691-48D9-9A8C-38048FC13C7C}"/>
              </a:ext>
            </a:extLst>
          </p:cNvPr>
          <p:cNvSpPr>
            <a:spLocks xmlns:a="http://schemas.openxmlformats.org/drawingml/2006/main" noGrp="1"/>
          </p:cNvSpPr>
          <p:nvPr/>
        </p:nvSpPr>
        <p:spPr>
          <a:xfrm xmlns:a="http://schemas.openxmlformats.org/drawingml/2006/main">
            <a:off x="619125" y="63150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8B0CC"/>
                </a:solidFill>
                <a:latin typeface="Tahoma"/>
                <a:ea typeface="Tahoma"/>
                <a:cs typeface="Tahoma"/>
              </a:defRPr>
            </a:defPPr>
          </a:lstStyle>
          <a:p xmlns:a="http://schemas.openxmlformats.org/drawingml/2006/main">
            <a:pPr algn="l" rtl="1">
              <a:defRPr sz="1275" b="0">
                <a:solidFill>
                  <a:srgbClr val="B8B0CC"/>
                </a:solidFill>
                <a:latin typeface="Tahoma"/>
                <a:ea typeface="Tahoma"/>
                <a:cs typeface="Tahoma"/>
              </a:defRPr>
            </a:pPr>
            <a:r>
              <a:rPr sz="1275" b="0" lang="fa-IR">
                <a:solidFill>
                  <a:srgbClr val="B8B0CC"/>
                </a:solidFill>
                <a:latin typeface="Tahoma"/>
                <a:ea typeface="Tahoma"/>
                <a:cs typeface="Tahoma"/>
              </a:rPr>
              <a:t>17</a:t>
            </a:r>
          </a:p>
        </p:txBody>
      </p:sp>
      <p:pic>
        <p:nvPicPr>
          <p:cNvPr id="3" name="">
            <a:extLst xmlns:a="http://schemas.openxmlformats.org/drawingml/2006/main">
              <a:ext uri="{FF2B5EF4-FFF2-40B4-BE49-F238E27FC236}">
                <a16:creationId xmlns:a16="http://schemas.microsoft.com/office/drawing/2014/main" id="{993F86A4-9045-4A0A-A2BC-9CEA1EB28A36}"/>
              </a:ext>
            </a:extLst>
          </p:cNvPr>
          <p:cNvPicPr>
            <a:picLocks xmlns:a="http://schemas.openxmlformats.org/drawingml/2006/main" noChangeAspect="1"/>
          </p:cNvPicPr>
          <p:nvPr/>
        </p:nvPicPr>
        <p:blipFill>
          <a:blip xmlns:r="http://schemas.openxmlformats.org/officeDocument/2006/relationships" xmlns:a="http://schemas.openxmlformats.org/drawingml/2006/main" r:embed="R6423e14dd55042a5">
            <a:extLst>
              <a:ext uri="{96DAC541-7B7A-43D3-8B79-37D633B846F1}">
                <asvg:svgBlip xmlns:asvg="http://schemas.microsoft.com/office/drawing/2016/SVG/main" r:embed="R6b0d00ac5f774e10"/>
              </a:ext>
            </a:extLst>
          </a:blip>
          <a:stretch xmlns:a="http://schemas.openxmlformats.org/drawingml/2006/main"/>
        </p:blipFill>
        <p:spPr>
          <a:xfrm xmlns:a="http://schemas.openxmlformats.org/drawingml/2006/main">
            <a:off x="619125" y="1952625"/>
            <a:ext cx="2190750" cy="21907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F040C736-544A-4CCB-9A6D-FD655A1455BF}"/>
              </a:ext>
            </a:extLst>
          </p:cNvPr>
          <p:cNvSpPr>
            <a:spLocks xmlns:a="http://schemas.openxmlformats.org/drawingml/2006/main" noGrp="1"/>
          </p:cNvSpPr>
          <p:nvPr/>
        </p:nvSpPr>
        <p:spPr>
          <a:xfrm xmlns:a="http://schemas.openxmlformats.org/drawingml/2006/main">
            <a:off x="3476625" y="1952625"/>
            <a:ext cx="8048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3150" b="1">
                <a:solidFill>
                  <a:srgbClr val="FAF9FD"/>
                </a:solidFill>
                <a:latin typeface="Tahoma"/>
                <a:ea typeface="Tahoma"/>
                <a:cs typeface="Tahoma"/>
              </a:defRPr>
            </a:defPPr>
          </a:lstStyle>
          <a:p xmlns:a="http://schemas.openxmlformats.org/drawingml/2006/main">
            <a:pPr algn="r" rtl="1">
              <a:defRPr sz="3150" b="1">
                <a:solidFill>
                  <a:srgbClr val="FAF9FD"/>
                </a:solidFill>
                <a:latin typeface="Tahoma"/>
                <a:ea typeface="Tahoma"/>
                <a:cs typeface="Tahoma"/>
              </a:defRPr>
            </a:pPr>
            <a:r>
              <a:rPr sz="3150" b="1" lang="fa-IR">
                <a:solidFill>
                  <a:srgbClr val="FAF9FD"/>
                </a:solidFill>
                <a:latin typeface="Tahoma"/>
                <a:ea typeface="Tahoma"/>
                <a:cs typeface="Tahoma"/>
              </a:rPr>
              <a:t>گام بعدی: ارزیابی قابل بازتولید</a:t>
            </a:r>
          </a:p>
        </p:txBody>
      </p:sp>
      <p:sp>
        <p:nvSpPr>
          <p:cNvPr id="5" name="text-3">
            <a:extLst xmlns:a="http://schemas.openxmlformats.org/drawingml/2006/main">
              <a:ext uri="{FF2B5EF4-FFF2-40B4-BE49-F238E27FC236}">
                <a16:creationId xmlns:a16="http://schemas.microsoft.com/office/drawing/2014/main" id="{83B22159-CCDB-4589-A597-0F3FC9393498}"/>
              </a:ext>
            </a:extLst>
          </p:cNvPr>
          <p:cNvSpPr>
            <a:spLocks xmlns:a="http://schemas.openxmlformats.org/drawingml/2006/main" noGrp="1"/>
          </p:cNvSpPr>
          <p:nvPr/>
        </p:nvSpPr>
        <p:spPr>
          <a:xfrm xmlns:a="http://schemas.openxmlformats.org/drawingml/2006/main">
            <a:off x="3476625" y="3238500"/>
            <a:ext cx="804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025" b="0">
                <a:solidFill>
                  <a:srgbClr val="B8B0CC"/>
                </a:solidFill>
                <a:latin typeface="Tahoma"/>
                <a:ea typeface="Tahoma"/>
                <a:cs typeface="Tahoma"/>
              </a:defRPr>
            </a:defPPr>
          </a:lstStyle>
          <a:p xmlns:a="http://schemas.openxmlformats.org/drawingml/2006/main">
            <a:pPr algn="r" rtl="1">
              <a:defRPr sz="2025" b="0">
                <a:solidFill>
                  <a:srgbClr val="B8B0CC"/>
                </a:solidFill>
                <a:latin typeface="Tahoma"/>
                <a:ea typeface="Tahoma"/>
                <a:cs typeface="Tahoma"/>
              </a:defRPr>
            </a:pPr>
            <a:r>
              <a:rPr sz="2025" b="0" lang="fa-IR">
                <a:solidFill>
                  <a:srgbClr val="B8B0CC"/>
                </a:solidFill>
                <a:latin typeface="Tahoma"/>
                <a:ea typeface="Tahoma"/>
                <a:cs typeface="Tahoma"/>
              </a:rPr>
              <a:t>NexoLab برای مقایسهٔ کیفیت پاسخ‌ها و صحت استناد</a:t>
            </a:r>
          </a:p>
          <a:p xmlns:a="http://schemas.openxmlformats.org/drawingml/2006/main">
            <a:pPr algn="r" rtl="1">
              <a:defRPr sz="2025" b="0">
                <a:solidFill>
                  <a:srgbClr val="B8B0CC"/>
                </a:solidFill>
                <a:latin typeface="Tahoma"/>
                <a:ea typeface="Tahoma"/>
                <a:cs typeface="Tahoma"/>
              </a:defRPr>
            </a:pPr>
            <a:r>
              <a:rPr sz="2025" b="0" lang="fa-IR">
                <a:solidFill>
                  <a:srgbClr val="B8B0CC"/>
                </a:solidFill>
                <a:latin typeface="Tahoma"/>
                <a:ea typeface="Tahoma"/>
                <a:cs typeface="Tahoma"/>
              </a:rPr>
              <a:t>آزمایش مدل رتبه‌بندی مجدد فارسی پس از ساخت دادهٔ معتبر</a:t>
            </a:r>
          </a:p>
        </p:txBody>
      </p:sp>
      <p:sp>
        <p:nvSpPr>
          <p:cNvPr id="6" name="text-4">
            <a:extLst xmlns:a="http://schemas.openxmlformats.org/drawingml/2006/main">
              <a:ext uri="{FF2B5EF4-FFF2-40B4-BE49-F238E27FC236}">
                <a16:creationId xmlns:a16="http://schemas.microsoft.com/office/drawing/2014/main" id="{4DFDB06B-0F12-4168-80CE-26B26788E4BE}"/>
              </a:ext>
            </a:extLst>
          </p:cNvPr>
          <p:cNvSpPr>
            <a:spLocks xmlns:a="http://schemas.openxmlformats.org/drawingml/2006/main" noGrp="1"/>
          </p:cNvSpPr>
          <p:nvPr/>
        </p:nvSpPr>
        <p:spPr>
          <a:xfrm xmlns:a="http://schemas.openxmlformats.org/drawingml/2006/main">
            <a:off x="6286500" y="53340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700" b="1">
                <a:solidFill>
                  <a:srgbClr val="9B86E1"/>
                </a:solidFill>
                <a:latin typeface="Tahoma"/>
                <a:ea typeface="Tahoma"/>
                <a:cs typeface="Tahoma"/>
              </a:defRPr>
            </a:defPPr>
          </a:lstStyle>
          <a:p xmlns:a="http://schemas.openxmlformats.org/drawingml/2006/main">
            <a:pPr algn="r" rtl="1">
              <a:defRPr sz="2700" b="1">
                <a:solidFill>
                  <a:srgbClr val="9B86E1"/>
                </a:solidFill>
                <a:latin typeface="Tahoma"/>
                <a:ea typeface="Tahoma"/>
                <a:cs typeface="Tahoma"/>
              </a:defRPr>
            </a:pPr>
            <a:r>
              <a:rPr sz="2700" b="1" lang="fa-IR">
                <a:solidFill>
                  <a:srgbClr val="9B86E1"/>
                </a:solidFill>
                <a:latin typeface="Tahoma"/>
                <a:ea typeface="Tahoma"/>
                <a:cs typeface="Tahoma"/>
              </a:rPr>
              <a:t>پرسش و پاسخ</a:t>
            </a:r>
          </a:p>
        </p:txBody>
      </p:sp>
      <p:sp>
        <p:nvSpPr>
          <p:cNvPr id="7" name="text-5">
            <a:extLst xmlns:a="http://schemas.openxmlformats.org/drawingml/2006/main">
              <a:ext uri="{FF2B5EF4-FFF2-40B4-BE49-F238E27FC236}">
                <a16:creationId xmlns:a16="http://schemas.microsoft.com/office/drawing/2014/main" id="{6C5E3332-275B-491F-9E6C-B4C8372071C9}"/>
              </a:ext>
            </a:extLst>
          </p:cNvPr>
          <p:cNvSpPr>
            <a:spLocks xmlns:a="http://schemas.openxmlformats.org/drawingml/2006/main" noGrp="1"/>
          </p:cNvSpPr>
          <p:nvPr/>
        </p:nvSpPr>
        <p:spPr>
          <a:xfrm xmlns:a="http://schemas.openxmlformats.org/drawingml/2006/main">
            <a:off x="619125" y="5734050"/>
            <a:ext cx="681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8B0CC"/>
                </a:solidFill>
                <a:latin typeface="Tahoma"/>
                <a:ea typeface="Tahoma"/>
                <a:cs typeface="Tahoma"/>
              </a:defRPr>
            </a:defPPr>
          </a:lstStyle>
          <a:p xmlns:a="http://schemas.openxmlformats.org/drawingml/2006/main">
            <a:pPr algn="l" rtl="1">
              <a:defRPr sz="1500" b="0">
                <a:solidFill>
                  <a:srgbClr val="B8B0CC"/>
                </a:solidFill>
                <a:latin typeface="Tahoma"/>
                <a:ea typeface="Tahoma"/>
                <a:cs typeface="Tahoma"/>
              </a:defRPr>
            </a:pPr>
            <a:r>
              <a:rPr sz="1500" b="0" lang="fa-IR">
                <a:solidFill>
                  <a:srgbClr val="B8B0CC"/>
                </a:solidFill>
                <a:latin typeface="Tahoma"/>
                <a:ea typeface="Tahoma"/>
                <a:cs typeface="Tahoma"/>
              </a:rPr>
              <a:t>github.com/elmira-orooji/Nexora-Advanced-RAG</a:t>
            </a:r>
          </a:p>
        </p:txBody>
      </p:sp>
    </p:spTree>
    <p:extLst>
      <p:ext uri="{BB962C8B-B14F-4D97-AF65-F5344CB8AC3E}">
        <p14:creationId xmlns:p14="http://schemas.microsoft.com/office/powerpoint/2010/main" val="301750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ahoma"/>
        <a:ea typeface=""/>
        <a:cs typeface="Tahoma"/>
      </a:majorFont>
      <a:minorFont>
        <a:latin typeface="Tahoma"/>
        <a:ea typeface=""/>
        <a:cs typeface="Tahoma"/>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2026-10-13T20:41:08.3510000Z</dcterms:created>
  <dcterms:modified xsi:type="dcterms:W3CDTF">2026-10-13T20:41:08.3510000Z</dcterms:modified>
</coreProperties>
</file>